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landing page running live behind you.</a:t>
            </a:r>
          </a:p>
          <a:p/>
          <a:p>
            <a:r>
              <a:t>"Your teams use AI every day. Today we will show you what that actually looks like, live, and the decisions it lets you make."</a:t>
            </a:r>
          </a:p>
          <a:p/>
          <a:p>
            <a:r>
              <a:t>Let the 3D scene play for a few seconds: three control planes (cost, tokens, calls), the AI core, and the agents orbiting it with data flowing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"Adoption is not the problem anymore. Look at our own numbers: 63 agents in the catalogue, 8 models in use within 30 days, 29 people across 5 teams."</a:t>
            </a:r>
          </a:p>
          <a:p/>
          <a:p>
            <a:r>
              <a:t>"With that much AI in play, leaders lose sight of what is really happening. The hard part is no longer using AI; it is seeing it, managing it and proving its value."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five questions. Ask the client: "How many of these can you answer right now, with data, for today?"</a:t>
            </a:r>
          </a:p>
          <a:p/>
          <a:p>
            <a:r>
              <a:t>"Every one of them needs data at the level of a single agent call, joined to people, teams and your own agent catalogue. That data usually is not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respectful: we complement these tools.</a:t>
            </a:r>
          </a:p>
          <a:p/>
          <a:p>
            <a:r>
              <a:t>"GitHub tells you whether people use Copilot. Observability tools tell developers whether their app works. Nothing tells leadership how the whole organization uses its own agents, live. That is the gap we fill."</a:t>
            </a:r>
          </a:p>
          <a:p/>
          <a:p>
            <a:r>
              <a:t>If asked: GitHub's metrics are daily with a 1–3 day lag and focus on Copilot features; we include them on our GitHub Metrics page.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sentence: the AI Control Plane turns Copilot and agent telemetry into a live map of agents, people, teams and models, so leaders can act on facts the same day."</a:t>
            </a:r>
          </a:p>
          <a:p/>
          <a:p>
            <a:r>
              <a:t>Then the three layers: capture with open standards, understand by joining calls to teams and our catalogue, act through one dashboard.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pipeline left to right.</a:t>
            </a:r>
          </a:p>
          <a:p/>
          <a:p>
            <a:r>
              <a:t>Stress privacy: "Your code and prompts never leave the developer. We record who, which agent, which model, how many tokens and how long, never what was written."</a:t>
            </a:r>
          </a:p>
          <a:p/>
          <a:p>
            <a:r>
              <a:t>Roll-out is one organization policy, not per-developer setup.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/dashboard.</a:t>
            </a:r>
          </a:p>
          <a:p/>
          <a:p>
            <a:r>
              <a:t>"In ten seconds you know how much of your agent investment is used, how heavily, on which models, and whether it is fast enough."</a:t>
            </a:r>
          </a:p>
          <a:p/>
          <a:p>
            <a:r>
              <a:t>Point to Active agents 53/63: "Ten agents had no calls this month. That is either a training gap or agents we can retire. Before, nobody could tell."</a:t>
            </a:r>
          </a:p>
          <a:p/>
          <a:p>
            <a:r>
              <a:t>Click Calls and Tokens to switch the 3D daily rhythm and the per-day bars.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Organization view. Drag to orbit, then click Rapid labs.</a:t>
            </a:r>
          </a:p>
          <a:p/>
          <a:p>
            <a:r>
              <a:t>"Low usage is not bad in itself, but now it is a conversation with data: do they need training, different agents, or is AI not useful for their work yet?"</a:t>
            </a:r>
          </a:p>
          <a:p/>
          <a:p>
            <a:r>
              <a:t>Example action: pair a strong Innovation user with Rapid labs for an enablement session, then watch the Team pulse chart next week.</a:t>
            </a:r>
          </a:p>
          <a:p/>
          <a:p>
            <a:r>
              <a:t>Note: team memberships here are demo assignments; production uses the real team directory.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Catalog. Click the Modernisation family, then open an agent tile to show its details panel and who uses it.</a:t>
            </a:r>
          </a:p>
          <a:p/>
          <a:p>
            <a:r>
              <a:t>"This is product management for internal AI: which agents earn their place, which need promotion, and where people are building their own."</a:t>
            </a:r>
          </a:p>
          <a:p/>
          <a:p>
            <a:r>
              <a:t>Example action: "Modernisation is busy, so fund the next Modernisation agents first; review the idle ones before building more of that kind."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Models. Hover the donut arcs; point at average tokens per call.</a:t>
            </a:r>
          </a:p>
          <a:p/>
          <a:p>
            <a:r>
              <a:t>"If one model uses eight times more context per call, that is where cost and wait time come from. Now you can decide which work deserves the premium model."</a:t>
            </a:r>
          </a:p>
          <a:p/>
          <a:p>
            <a:r>
              <a:t>If asked: cost uses a flat $0.99 per million tokens; real provider pricing can be added.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Activity.</a:t>
            </a:r>
          </a:p>
          <a:p/>
          <a:p>
            <a:r>
              <a:t>Heat field: "The busiest hour (for example Sunday 10:00–11:00) points to deadline crunches and unusual working patterns."</a:t>
            </a:r>
          </a:p>
          <a:p/>
          <a:p>
            <a:r>
              <a:t>Signal network: hover a person to light up their exact path through teams, agents and models. Link width and signal pace follow real call volume.</a:t>
            </a:r>
          </a:p>
          <a:p/>
          <a:p>
            <a:r>
              <a:t>Recorded calls below: every call with time, person, agent, model, tokens, latency and cost, exportable to CSV.</a:t>
            </a:r>
          </a:p>
          <a:p/>
          <a:p>
            <a:r>
              <a:t>"When something spikes or slows down, you can find who, which agent and which model in seconds."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reasons, the first three matter most: our own agents, our own organization, and live data.</a:t>
            </a:r>
          </a:p>
          <a:p/>
          <a:p>
            <a:r>
              <a:t>"We are not replacing GitHub's metrics; we add the layer leadership is missing."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each audience to a view: leadership → Overview; managers → Organization; platform team → Catalog and Models; finance → CSV exports; governance → Activity and Models.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it as a story. Pause on 9:05 and 11:00: these are the decisions clients care about most (enablement and agent investment).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plan and the line: "You have invested in AI agents. The AI Control Plane shows you, live, whether that investment is working, and what to do next."</a:t>
            </a:r>
          </a:p>
          <a:p/>
          <a:p>
            <a:r>
              <a:t>Ask for the pilot: one organization, one policy, two weeks.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answers short and honest. The two most common: privacy (no content) and cost accuracy (estimate, comparable, not an invoice).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10-minute demo order:</a:t>
            </a:r>
          </a:p>
          <a:p>
            <a:r>
              <a:t>1. Landing page (1 min)</a:t>
            </a:r>
          </a:p>
          <a:p>
            <a:r>
              <a:t>2. Overview (2 min)</a:t>
            </a:r>
          </a:p>
          <a:p>
            <a:r>
              <a:t>3. Organization: click Rapid labs (2 min)</a:t>
            </a:r>
          </a:p>
          <a:p>
            <a:r>
              <a:t>4. Catalog: Modernisation and unregistered agents (2 min)</a:t>
            </a:r>
          </a:p>
          <a:p>
            <a:r>
              <a:t>5. Activity: hover a node in the signal network (2 min)</a:t>
            </a:r>
          </a:p>
          <a:p>
            <a:r>
              <a:t>6. GitHub metrics side by side (1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751576" y="813815"/>
            <a:ext cx="5961888" cy="3769062"/>
          </a:xfrm>
          <a:prstGeom prst="roundRect">
            <a:avLst>
              <a:gd name="adj" fmla="val 3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landing.jpg"/>
          <p:cNvPicPr>
            <a:picLocks noChangeAspect="1"/>
          </p:cNvPicPr>
          <p:nvPr/>
        </p:nvPicPr>
        <p:blipFill>
          <a:blip r:embed="rId2"/>
          <a:stretch>
            <a:fillRect/>
          </a:stretch>
        </p:blipFill>
        <p:spPr>
          <a:xfrm>
            <a:off x="5806440" y="868680"/>
            <a:ext cx="5852160" cy="3659334"/>
          </a:xfrm>
          <a:prstGeom prst="rect">
            <a:avLst/>
          </a:prstGeom>
        </p:spPr>
      </p:pic>
      <p:sp>
        <p:nvSpPr>
          <p:cNvPr id="7" name="TextBox 6"/>
          <p:cNvSpPr txBox="1"/>
          <p:nvPr/>
        </p:nvSpPr>
        <p:spPr>
          <a:xfrm>
            <a:off x="548640" y="1417320"/>
            <a:ext cx="5120640" cy="36576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Client presentation · tth-cto-innovation</a:t>
            </a:r>
          </a:p>
        </p:txBody>
      </p:sp>
      <p:sp>
        <p:nvSpPr>
          <p:cNvPr id="8" name="TextBox 7"/>
          <p:cNvSpPr txBox="1"/>
          <p:nvPr/>
        </p:nvSpPr>
        <p:spPr>
          <a:xfrm>
            <a:off x="548640" y="1828800"/>
            <a:ext cx="5303520" cy="1737360"/>
          </a:xfrm>
          <a:prstGeom prst="rect">
            <a:avLst/>
          </a:prstGeom>
          <a:noFill/>
        </p:spPr>
        <p:txBody>
          <a:bodyPr wrap="square" lIns="18288" rIns="18288" tIns="18288" bIns="18288" anchor="t">
            <a:spAutoFit/>
          </a:bodyPr>
          <a:lstStyle/>
          <a:p>
            <a:pPr algn="l">
              <a:lnSpc>
                <a:spcPct val="95000"/>
              </a:lnSpc>
            </a:pPr>
            <a:r>
              <a:rPr sz="6000" b="0">
                <a:solidFill>
                  <a:srgbClr val="EDF0FF"/>
                </a:solidFill>
                <a:latin typeface="Segoe UI Semibold"/>
              </a:rPr>
              <a:t>AI Control</a:t>
            </a:r>
          </a:p>
          <a:p>
            <a:pPr algn="l">
              <a:lnSpc>
                <a:spcPct val="95000"/>
              </a:lnSpc>
            </a:pPr>
            <a:r>
              <a:rPr sz="6000" b="0">
                <a:solidFill>
                  <a:srgbClr val="EDF0FF"/>
                </a:solidFill>
                <a:latin typeface="Segoe UI Semibold"/>
              </a:rPr>
              <a:t>Plane</a:t>
            </a:r>
          </a:p>
        </p:txBody>
      </p:sp>
      <p:sp>
        <p:nvSpPr>
          <p:cNvPr id="9" name="TextBox 8"/>
          <p:cNvSpPr txBox="1"/>
          <p:nvPr/>
        </p:nvSpPr>
        <p:spPr>
          <a:xfrm>
            <a:off x="548640" y="3657600"/>
            <a:ext cx="5029200" cy="1097280"/>
          </a:xfrm>
          <a:prstGeom prst="rect">
            <a:avLst/>
          </a:prstGeom>
          <a:noFill/>
        </p:spPr>
        <p:txBody>
          <a:bodyPr wrap="square" lIns="18288" rIns="18288" tIns="18288" bIns="18288" anchor="t">
            <a:spAutoFit/>
          </a:bodyPr>
          <a:lstStyle/>
          <a:p>
            <a:pPr algn="l">
              <a:lnSpc>
                <a:spcPct val="115000"/>
              </a:lnSpc>
            </a:pPr>
            <a:r>
              <a:rPr sz="1900" b="0">
                <a:solidFill>
                  <a:srgbClr val="9BA1C4"/>
                </a:solidFill>
                <a:latin typeface="Segoe UI"/>
              </a:rPr>
              <a:t>See how your organization really builds with AI: every agent, every call, every team, live.</a:t>
            </a:r>
          </a:p>
        </p:txBody>
      </p:sp>
      <p:sp>
        <p:nvSpPr>
          <p:cNvPr id="10" name="Oval 9"/>
          <p:cNvSpPr/>
          <p:nvPr/>
        </p:nvSpPr>
        <p:spPr>
          <a:xfrm>
            <a:off x="566928" y="5138928"/>
            <a:ext cx="128016" cy="128016"/>
          </a:xfrm>
          <a:prstGeom prst="ellipse">
            <a:avLst/>
          </a:prstGeom>
          <a:solidFill>
            <a:srgbClr val="95E3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047488"/>
            <a:ext cx="1463040" cy="320040"/>
          </a:xfrm>
          <a:prstGeom prst="rect">
            <a:avLst/>
          </a:prstGeom>
          <a:noFill/>
        </p:spPr>
        <p:txBody>
          <a:bodyPr wrap="square" lIns="18288" rIns="18288" tIns="18288" bIns="18288" anchor="t">
            <a:spAutoFit/>
          </a:bodyPr>
          <a:lstStyle/>
          <a:p>
            <a:pPr algn="l">
              <a:lnSpc>
                <a:spcPct val="115000"/>
              </a:lnSpc>
            </a:pPr>
            <a:r>
              <a:rPr sz="1300" b="0">
                <a:solidFill>
                  <a:srgbClr val="EDF0FF"/>
                </a:solidFill>
                <a:latin typeface="Segoe UI"/>
              </a:rPr>
              <a:t>Agents</a:t>
            </a:r>
          </a:p>
        </p:txBody>
      </p:sp>
      <p:sp>
        <p:nvSpPr>
          <p:cNvPr id="12" name="Oval 11"/>
          <p:cNvSpPr/>
          <p:nvPr/>
        </p:nvSpPr>
        <p:spPr>
          <a:xfrm>
            <a:off x="2258568" y="5138928"/>
            <a:ext cx="128016" cy="128016"/>
          </a:xfrm>
          <a:prstGeom prst="ellipse">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0" y="5047488"/>
            <a:ext cx="1463040" cy="320040"/>
          </a:xfrm>
          <a:prstGeom prst="rect">
            <a:avLst/>
          </a:prstGeom>
          <a:noFill/>
        </p:spPr>
        <p:txBody>
          <a:bodyPr wrap="square" lIns="18288" rIns="18288" tIns="18288" bIns="18288" anchor="t">
            <a:spAutoFit/>
          </a:bodyPr>
          <a:lstStyle/>
          <a:p>
            <a:pPr algn="l">
              <a:lnSpc>
                <a:spcPct val="115000"/>
              </a:lnSpc>
            </a:pPr>
            <a:r>
              <a:rPr sz="1300" b="0">
                <a:solidFill>
                  <a:srgbClr val="EDF0FF"/>
                </a:solidFill>
                <a:latin typeface="Segoe UI"/>
              </a:rPr>
              <a:t>People &amp; teams</a:t>
            </a:r>
          </a:p>
        </p:txBody>
      </p:sp>
      <p:sp>
        <p:nvSpPr>
          <p:cNvPr id="14" name="Oval 13"/>
          <p:cNvSpPr/>
          <p:nvPr/>
        </p:nvSpPr>
        <p:spPr>
          <a:xfrm>
            <a:off x="3950208" y="5138928"/>
            <a:ext cx="128016" cy="128016"/>
          </a:xfrm>
          <a:prstGeom prst="ellipse">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60520" y="5047488"/>
            <a:ext cx="1463040" cy="320040"/>
          </a:xfrm>
          <a:prstGeom prst="rect">
            <a:avLst/>
          </a:prstGeom>
          <a:noFill/>
        </p:spPr>
        <p:txBody>
          <a:bodyPr wrap="square" lIns="18288" rIns="18288" tIns="18288" bIns="18288" anchor="t">
            <a:spAutoFit/>
          </a:bodyPr>
          <a:lstStyle/>
          <a:p>
            <a:pPr algn="l">
              <a:lnSpc>
                <a:spcPct val="115000"/>
              </a:lnSpc>
            </a:pPr>
            <a:r>
              <a:rPr sz="1300" b="0">
                <a:solidFill>
                  <a:srgbClr val="EDF0FF"/>
                </a:solidFill>
                <a:latin typeface="Segoe UI"/>
              </a:rPr>
              <a:t>Models</a:t>
            </a:r>
          </a:p>
        </p:txBody>
      </p:sp>
      <p:sp>
        <p:nvSpPr>
          <p:cNvPr id="16" name="TextBox 15"/>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Built on Copilot and AgentVerse telemetry. Live product screenshots throughout.</a:t>
            </a:r>
          </a:p>
        </p:txBody>
      </p:sp>
      <p:sp>
        <p:nvSpPr>
          <p:cNvPr id="17" name="TextBox 16"/>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02</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What the world has today</a:t>
            </a:r>
          </a:p>
        </p:txBody>
      </p:sp>
      <p:sp>
        <p:nvSpPr>
          <p:cNvPr id="7" name="TextBox 6"/>
          <p:cNvSpPr txBox="1"/>
          <p:nvPr/>
        </p:nvSpPr>
        <p:spPr>
          <a:xfrm>
            <a:off x="548640" y="1298448"/>
            <a:ext cx="11064240" cy="54864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AI moved from a few people trying Copilot to whole teams working with agents.</a:t>
            </a:r>
          </a:p>
        </p:txBody>
      </p:sp>
      <p:sp>
        <p:nvSpPr>
          <p:cNvPr id="8" name="Rounded Rectangle 7"/>
          <p:cNvSpPr/>
          <p:nvPr/>
        </p:nvSpPr>
        <p:spPr>
          <a:xfrm>
            <a:off x="548640" y="2148840"/>
            <a:ext cx="3520440" cy="301752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148840"/>
            <a:ext cx="1097280" cy="45720"/>
          </a:xfrm>
          <a:prstGeom prst="rect">
            <a:avLst/>
          </a:prstGeom>
          <a:solidFill>
            <a:srgbClr val="95E3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514600"/>
            <a:ext cx="3017520" cy="1097280"/>
          </a:xfrm>
          <a:prstGeom prst="rect">
            <a:avLst/>
          </a:prstGeom>
          <a:noFill/>
        </p:spPr>
        <p:txBody>
          <a:bodyPr wrap="square" lIns="18288" rIns="18288" tIns="18288" bIns="18288" anchor="t">
            <a:spAutoFit/>
          </a:bodyPr>
          <a:lstStyle/>
          <a:p>
            <a:pPr algn="l">
              <a:lnSpc>
                <a:spcPct val="115000"/>
              </a:lnSpc>
            </a:pPr>
            <a:r>
              <a:rPr sz="6000" b="0">
                <a:solidFill>
                  <a:srgbClr val="95E36F"/>
                </a:solidFill>
                <a:latin typeface="Segoe UI Semibold"/>
              </a:rPr>
              <a:t>63</a:t>
            </a:r>
          </a:p>
        </p:txBody>
      </p:sp>
      <p:sp>
        <p:nvSpPr>
          <p:cNvPr id="11" name="TextBox 10"/>
          <p:cNvSpPr txBox="1"/>
          <p:nvPr/>
        </p:nvSpPr>
        <p:spPr>
          <a:xfrm>
            <a:off x="868680" y="3611880"/>
            <a:ext cx="2971800" cy="731520"/>
          </a:xfrm>
          <a:prstGeom prst="rect">
            <a:avLst/>
          </a:prstGeom>
          <a:noFill/>
        </p:spPr>
        <p:txBody>
          <a:bodyPr wrap="square" lIns="18288" rIns="18288" tIns="18288" bIns="18288" anchor="t">
            <a:spAutoFit/>
          </a:bodyPr>
          <a:lstStyle/>
          <a:p>
            <a:pPr algn="l">
              <a:lnSpc>
                <a:spcPct val="115000"/>
              </a:lnSpc>
            </a:pPr>
            <a:r>
              <a:rPr sz="1800" b="0">
                <a:solidFill>
                  <a:srgbClr val="EDF0FF"/>
                </a:solidFill>
                <a:latin typeface="Segoe UI Semibold"/>
              </a:rPr>
              <a:t>agents in our DevJourney catalogue</a:t>
            </a:r>
          </a:p>
        </p:txBody>
      </p:sp>
      <p:sp>
        <p:nvSpPr>
          <p:cNvPr id="12" name="TextBox 11"/>
          <p:cNvSpPr txBox="1"/>
          <p:nvPr/>
        </p:nvSpPr>
        <p:spPr>
          <a:xfrm>
            <a:off x="868680" y="4434840"/>
            <a:ext cx="2971800" cy="64008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Development, Assurance &amp; testing, Modernisation, Data</a:t>
            </a:r>
          </a:p>
        </p:txBody>
      </p:sp>
      <p:sp>
        <p:nvSpPr>
          <p:cNvPr id="13" name="Rounded Rectangle 12"/>
          <p:cNvSpPr/>
          <p:nvPr/>
        </p:nvSpPr>
        <p:spPr>
          <a:xfrm>
            <a:off x="4297679" y="2148840"/>
            <a:ext cx="3520440" cy="301752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26279" y="2148840"/>
            <a:ext cx="1097280" cy="45720"/>
          </a:xfrm>
          <a:prstGeom prst="rect">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17719" y="2514600"/>
            <a:ext cx="3017520" cy="1097280"/>
          </a:xfrm>
          <a:prstGeom prst="rect">
            <a:avLst/>
          </a:prstGeom>
          <a:noFill/>
        </p:spPr>
        <p:txBody>
          <a:bodyPr wrap="square" lIns="18288" rIns="18288" tIns="18288" bIns="18288" anchor="t">
            <a:spAutoFit/>
          </a:bodyPr>
          <a:lstStyle/>
          <a:p>
            <a:pPr algn="l">
              <a:lnSpc>
                <a:spcPct val="115000"/>
              </a:lnSpc>
            </a:pPr>
            <a:r>
              <a:rPr sz="6000" b="0">
                <a:solidFill>
                  <a:srgbClr val="FF8F5E"/>
                </a:solidFill>
                <a:latin typeface="Segoe UI Semibold"/>
              </a:rPr>
              <a:t>8</a:t>
            </a:r>
          </a:p>
        </p:txBody>
      </p:sp>
      <p:sp>
        <p:nvSpPr>
          <p:cNvPr id="16" name="TextBox 15"/>
          <p:cNvSpPr txBox="1"/>
          <p:nvPr/>
        </p:nvSpPr>
        <p:spPr>
          <a:xfrm>
            <a:off x="4617719" y="3611880"/>
            <a:ext cx="2971800" cy="731520"/>
          </a:xfrm>
          <a:prstGeom prst="rect">
            <a:avLst/>
          </a:prstGeom>
          <a:noFill/>
        </p:spPr>
        <p:txBody>
          <a:bodyPr wrap="square" lIns="18288" rIns="18288" tIns="18288" bIns="18288" anchor="t">
            <a:spAutoFit/>
          </a:bodyPr>
          <a:lstStyle/>
          <a:p>
            <a:pPr algn="l">
              <a:lnSpc>
                <a:spcPct val="115000"/>
              </a:lnSpc>
            </a:pPr>
            <a:r>
              <a:rPr sz="1800" b="0">
                <a:solidFill>
                  <a:srgbClr val="EDF0FF"/>
                </a:solidFill>
                <a:latin typeface="Segoe UI Semibold"/>
              </a:rPr>
              <a:t>models used in 30 days</a:t>
            </a:r>
          </a:p>
        </p:txBody>
      </p:sp>
      <p:sp>
        <p:nvSpPr>
          <p:cNvPr id="17" name="TextBox 16"/>
          <p:cNvSpPr txBox="1"/>
          <p:nvPr/>
        </p:nvSpPr>
        <p:spPr>
          <a:xfrm>
            <a:off x="4617719" y="4434840"/>
            <a:ext cx="2971800" cy="64008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GPT-4o, GPT-4o mini, Claude Sonnet and more</a:t>
            </a:r>
          </a:p>
        </p:txBody>
      </p:sp>
      <p:sp>
        <p:nvSpPr>
          <p:cNvPr id="18" name="Rounded Rectangle 17"/>
          <p:cNvSpPr/>
          <p:nvPr/>
        </p:nvSpPr>
        <p:spPr>
          <a:xfrm>
            <a:off x="8046719" y="2148840"/>
            <a:ext cx="3520440" cy="301752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19" y="2148840"/>
            <a:ext cx="1097280" cy="45720"/>
          </a:xfrm>
          <a:prstGeom prst="rect">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59" y="2514600"/>
            <a:ext cx="3017520" cy="1097280"/>
          </a:xfrm>
          <a:prstGeom prst="rect">
            <a:avLst/>
          </a:prstGeom>
          <a:noFill/>
        </p:spPr>
        <p:txBody>
          <a:bodyPr wrap="square" lIns="18288" rIns="18288" tIns="18288" bIns="18288" anchor="t">
            <a:spAutoFit/>
          </a:bodyPr>
          <a:lstStyle/>
          <a:p>
            <a:pPr algn="l">
              <a:lnSpc>
                <a:spcPct val="115000"/>
              </a:lnSpc>
            </a:pPr>
            <a:r>
              <a:rPr sz="6000" b="0">
                <a:solidFill>
                  <a:srgbClr val="A08BFF"/>
                </a:solidFill>
                <a:latin typeface="Segoe UI Semibold"/>
              </a:rPr>
              <a:t>29 · 5</a:t>
            </a:r>
          </a:p>
        </p:txBody>
      </p:sp>
      <p:sp>
        <p:nvSpPr>
          <p:cNvPr id="21" name="TextBox 20"/>
          <p:cNvSpPr txBox="1"/>
          <p:nvPr/>
        </p:nvSpPr>
        <p:spPr>
          <a:xfrm>
            <a:off x="8366759" y="3611880"/>
            <a:ext cx="2971800" cy="731520"/>
          </a:xfrm>
          <a:prstGeom prst="rect">
            <a:avLst/>
          </a:prstGeom>
          <a:noFill/>
        </p:spPr>
        <p:txBody>
          <a:bodyPr wrap="square" lIns="18288" rIns="18288" tIns="18288" bIns="18288" anchor="t">
            <a:spAutoFit/>
          </a:bodyPr>
          <a:lstStyle/>
          <a:p>
            <a:pPr algn="l">
              <a:lnSpc>
                <a:spcPct val="115000"/>
              </a:lnSpc>
            </a:pPr>
            <a:r>
              <a:rPr sz="1800" b="0">
                <a:solidFill>
                  <a:srgbClr val="EDF0FF"/>
                </a:solidFill>
                <a:latin typeface="Segoe UI Semibold"/>
              </a:rPr>
              <a:t>people across five teams</a:t>
            </a:r>
          </a:p>
        </p:txBody>
      </p:sp>
      <p:sp>
        <p:nvSpPr>
          <p:cNvPr id="22" name="TextBox 21"/>
          <p:cNvSpPr txBox="1"/>
          <p:nvPr/>
        </p:nvSpPr>
        <p:spPr>
          <a:xfrm>
            <a:off x="8366759" y="4434840"/>
            <a:ext cx="2971800" cy="64008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Data, AI, Cognitive core, Rapid labs, Innovation</a:t>
            </a:r>
          </a:p>
        </p:txBody>
      </p:sp>
      <p:sp>
        <p:nvSpPr>
          <p:cNvPr id="23" name="TextBox 22"/>
          <p:cNvSpPr txBox="1"/>
          <p:nvPr/>
        </p:nvSpPr>
        <p:spPr>
          <a:xfrm>
            <a:off x="548640" y="5486400"/>
            <a:ext cx="11064240" cy="548640"/>
          </a:xfrm>
          <a:prstGeom prst="rect">
            <a:avLst/>
          </a:prstGeom>
          <a:noFill/>
        </p:spPr>
        <p:txBody>
          <a:bodyPr wrap="square" lIns="18288" rIns="18288" tIns="18288" bIns="18288" anchor="t">
            <a:spAutoFit/>
          </a:bodyPr>
          <a:lstStyle/>
          <a:p>
            <a:pPr algn="l">
              <a:lnSpc>
                <a:spcPct val="115000"/>
              </a:lnSpc>
            </a:pPr>
            <a:r>
              <a:rPr sz="2000" b="0">
                <a:solidFill>
                  <a:srgbClr val="EDF0FF"/>
                </a:solidFill>
                <a:latin typeface="Segoe UI Semibold"/>
              </a:rPr>
              <a:t>The hard part is no longer using AI. </a:t>
            </a:r>
            <a:r>
              <a:rPr sz="2000" b="0">
                <a:solidFill>
                  <a:srgbClr val="9BA1C4"/>
                </a:solidFill>
                <a:latin typeface="Segoe UI"/>
              </a:rPr>
              <a:t>It is seeing it, managing it and proving its value.</a:t>
            </a:r>
          </a:p>
        </p:txBody>
      </p:sp>
      <p:sp>
        <p:nvSpPr>
          <p:cNvPr id="24" name="TextBox 23"/>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Live snapshot from the AI Control Plane, 31 Oct 2026, last 30 days. Team memberships are demo assignments; cost is an estimate.</a:t>
            </a:r>
          </a:p>
        </p:txBody>
      </p:sp>
      <p:sp>
        <p:nvSpPr>
          <p:cNvPr id="25" name="TextBox 24"/>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03</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The questions leaders cannot answer today</a:t>
            </a:r>
          </a:p>
        </p:txBody>
      </p:sp>
      <p:sp>
        <p:nvSpPr>
          <p:cNvPr id="7" name="TextBox 6"/>
          <p:cNvSpPr txBox="1"/>
          <p:nvPr/>
        </p:nvSpPr>
        <p:spPr>
          <a:xfrm>
            <a:off x="548640" y="1298448"/>
            <a:ext cx="11064240" cy="54864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Each one needs per-call data joined to people, teams and our own agent catalogue.</a:t>
            </a:r>
          </a:p>
        </p:txBody>
      </p:sp>
      <p:sp>
        <p:nvSpPr>
          <p:cNvPr id="8" name="Rounded Rectangle 7"/>
          <p:cNvSpPr/>
          <p:nvPr/>
        </p:nvSpPr>
        <p:spPr>
          <a:xfrm>
            <a:off x="548640" y="2057400"/>
            <a:ext cx="11064240" cy="658368"/>
          </a:xfrm>
          <a:prstGeom prst="roundRect">
            <a:avLst>
              <a:gd name="adj" fmla="val 1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2295144"/>
            <a:ext cx="182880" cy="182880"/>
          </a:xfrm>
          <a:prstGeom prst="ellipse">
            <a:avLst/>
          </a:prstGeom>
          <a:solidFill>
            <a:srgbClr val="95E3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212848"/>
            <a:ext cx="1463040" cy="365760"/>
          </a:xfrm>
          <a:prstGeom prst="rect">
            <a:avLst/>
          </a:prstGeom>
          <a:noFill/>
        </p:spPr>
        <p:txBody>
          <a:bodyPr wrap="square" lIns="18288" rIns="18288" tIns="18288" bIns="18288" anchor="t">
            <a:spAutoFit/>
          </a:bodyPr>
          <a:lstStyle/>
          <a:p>
            <a:pPr algn="l">
              <a:lnSpc>
                <a:spcPct val="115000"/>
              </a:lnSpc>
            </a:pPr>
            <a:r>
              <a:rPr sz="1500" b="0">
                <a:solidFill>
                  <a:srgbClr val="95E36F"/>
                </a:solidFill>
                <a:latin typeface="Segoe UI Semibold"/>
              </a:rPr>
              <a:t>Adoption</a:t>
            </a:r>
          </a:p>
        </p:txBody>
      </p:sp>
      <p:sp>
        <p:nvSpPr>
          <p:cNvPr id="11" name="TextBox 10"/>
          <p:cNvSpPr txBox="1"/>
          <p:nvPr/>
        </p:nvSpPr>
        <p:spPr>
          <a:xfrm>
            <a:off x="2651760" y="2212848"/>
            <a:ext cx="8778240" cy="365760"/>
          </a:xfrm>
          <a:prstGeom prst="rect">
            <a:avLst/>
          </a:prstGeom>
          <a:noFill/>
        </p:spPr>
        <p:txBody>
          <a:bodyPr wrap="square" lIns="18288" rIns="18288" tIns="18288" bIns="18288" anchor="t">
            <a:spAutoFit/>
          </a:bodyPr>
          <a:lstStyle/>
          <a:p>
            <a:pPr algn="l">
              <a:lnSpc>
                <a:spcPct val="115000"/>
              </a:lnSpc>
            </a:pPr>
            <a:r>
              <a:rPr sz="1700" b="0">
                <a:solidFill>
                  <a:srgbClr val="EDF0FF"/>
                </a:solidFill>
                <a:latin typeface="Segoe UI"/>
              </a:rPr>
              <a:t>We built 63 agents. Which ones are actually used, and which are shelfware?</a:t>
            </a:r>
          </a:p>
        </p:txBody>
      </p:sp>
      <p:sp>
        <p:nvSpPr>
          <p:cNvPr id="12" name="Rounded Rectangle 11"/>
          <p:cNvSpPr/>
          <p:nvPr/>
        </p:nvSpPr>
        <p:spPr>
          <a:xfrm>
            <a:off x="548640" y="2843784"/>
            <a:ext cx="11064240" cy="658368"/>
          </a:xfrm>
          <a:prstGeom prst="roundRect">
            <a:avLst>
              <a:gd name="adj" fmla="val 1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081528"/>
            <a:ext cx="182880" cy="182880"/>
          </a:xfrm>
          <a:prstGeom prst="ellipse">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2999232"/>
            <a:ext cx="1463040" cy="365760"/>
          </a:xfrm>
          <a:prstGeom prst="rect">
            <a:avLst/>
          </a:prstGeom>
          <a:noFill/>
        </p:spPr>
        <p:txBody>
          <a:bodyPr wrap="square" lIns="18288" rIns="18288" tIns="18288" bIns="18288" anchor="t">
            <a:spAutoFit/>
          </a:bodyPr>
          <a:lstStyle/>
          <a:p>
            <a:pPr algn="l">
              <a:lnSpc>
                <a:spcPct val="115000"/>
              </a:lnSpc>
            </a:pPr>
            <a:r>
              <a:rPr sz="1500" b="0">
                <a:solidFill>
                  <a:srgbClr val="A08BFF"/>
                </a:solidFill>
                <a:latin typeface="Segoe UI Semibold"/>
              </a:rPr>
              <a:t>Teams</a:t>
            </a:r>
          </a:p>
        </p:txBody>
      </p:sp>
      <p:sp>
        <p:nvSpPr>
          <p:cNvPr id="15" name="TextBox 14"/>
          <p:cNvSpPr txBox="1"/>
          <p:nvPr/>
        </p:nvSpPr>
        <p:spPr>
          <a:xfrm>
            <a:off x="2651760" y="2999232"/>
            <a:ext cx="8778240" cy="365760"/>
          </a:xfrm>
          <a:prstGeom prst="rect">
            <a:avLst/>
          </a:prstGeom>
          <a:noFill/>
        </p:spPr>
        <p:txBody>
          <a:bodyPr wrap="square" lIns="18288" rIns="18288" tIns="18288" bIns="18288" anchor="t">
            <a:spAutoFit/>
          </a:bodyPr>
          <a:lstStyle/>
          <a:p>
            <a:pPr algn="l">
              <a:lnSpc>
                <a:spcPct val="115000"/>
              </a:lnSpc>
            </a:pPr>
            <a:r>
              <a:rPr sz="1700" b="0">
                <a:solidFill>
                  <a:srgbClr val="EDF0FF"/>
                </a:solidFill>
                <a:latin typeface="Segoe UI"/>
              </a:rPr>
              <a:t>Which teams are adopting AI, and which are falling behind?</a:t>
            </a:r>
          </a:p>
        </p:txBody>
      </p:sp>
      <p:sp>
        <p:nvSpPr>
          <p:cNvPr id="16" name="Rounded Rectangle 15"/>
          <p:cNvSpPr/>
          <p:nvPr/>
        </p:nvSpPr>
        <p:spPr>
          <a:xfrm>
            <a:off x="548640" y="3630168"/>
            <a:ext cx="11064240" cy="658368"/>
          </a:xfrm>
          <a:prstGeom prst="roundRect">
            <a:avLst>
              <a:gd name="adj" fmla="val 1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867911"/>
            <a:ext cx="182880" cy="182880"/>
          </a:xfrm>
          <a:prstGeom prst="ellipse">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3785615"/>
            <a:ext cx="1463040" cy="365760"/>
          </a:xfrm>
          <a:prstGeom prst="rect">
            <a:avLst/>
          </a:prstGeom>
          <a:noFill/>
        </p:spPr>
        <p:txBody>
          <a:bodyPr wrap="square" lIns="18288" rIns="18288" tIns="18288" bIns="18288" anchor="t">
            <a:spAutoFit/>
          </a:bodyPr>
          <a:lstStyle/>
          <a:p>
            <a:pPr algn="l">
              <a:lnSpc>
                <a:spcPct val="115000"/>
              </a:lnSpc>
            </a:pPr>
            <a:r>
              <a:rPr sz="1500" b="0">
                <a:solidFill>
                  <a:srgbClr val="FF8F5E"/>
                </a:solidFill>
                <a:latin typeface="Segoe UI Semibold"/>
              </a:rPr>
              <a:t>Cost</a:t>
            </a:r>
          </a:p>
        </p:txBody>
      </p:sp>
      <p:sp>
        <p:nvSpPr>
          <p:cNvPr id="19" name="TextBox 18"/>
          <p:cNvSpPr txBox="1"/>
          <p:nvPr/>
        </p:nvSpPr>
        <p:spPr>
          <a:xfrm>
            <a:off x="2651760" y="3785615"/>
            <a:ext cx="8778240" cy="365760"/>
          </a:xfrm>
          <a:prstGeom prst="rect">
            <a:avLst/>
          </a:prstGeom>
          <a:noFill/>
        </p:spPr>
        <p:txBody>
          <a:bodyPr wrap="square" lIns="18288" rIns="18288" tIns="18288" bIns="18288" anchor="t">
            <a:spAutoFit/>
          </a:bodyPr>
          <a:lstStyle/>
          <a:p>
            <a:pPr algn="l">
              <a:lnSpc>
                <a:spcPct val="115000"/>
              </a:lnSpc>
            </a:pPr>
            <a:r>
              <a:rPr sz="1700" b="0">
                <a:solidFill>
                  <a:srgbClr val="EDF0FF"/>
                </a:solidFill>
                <a:latin typeface="Segoe UI"/>
              </a:rPr>
              <a:t>What does it cost, and who or what is driving that cost?</a:t>
            </a:r>
          </a:p>
        </p:txBody>
      </p:sp>
      <p:sp>
        <p:nvSpPr>
          <p:cNvPr id="20" name="Rounded Rectangle 19"/>
          <p:cNvSpPr/>
          <p:nvPr/>
        </p:nvSpPr>
        <p:spPr>
          <a:xfrm>
            <a:off x="548640" y="4416552"/>
            <a:ext cx="11064240" cy="658368"/>
          </a:xfrm>
          <a:prstGeom prst="roundRect">
            <a:avLst>
              <a:gd name="adj" fmla="val 1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60" y="4654296"/>
            <a:ext cx="182880" cy="182880"/>
          </a:xfrm>
          <a:prstGeom prst="ellipse">
            <a:avLst/>
          </a:prstGeom>
          <a:solidFill>
            <a:srgbClr val="FF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4572000"/>
            <a:ext cx="1463040" cy="365760"/>
          </a:xfrm>
          <a:prstGeom prst="rect">
            <a:avLst/>
          </a:prstGeom>
          <a:noFill/>
        </p:spPr>
        <p:txBody>
          <a:bodyPr wrap="square" lIns="18288" rIns="18288" tIns="18288" bIns="18288" anchor="t">
            <a:spAutoFit/>
          </a:bodyPr>
          <a:lstStyle/>
          <a:p>
            <a:pPr algn="l">
              <a:lnSpc>
                <a:spcPct val="115000"/>
              </a:lnSpc>
            </a:pPr>
            <a:r>
              <a:rPr sz="1500" b="0">
                <a:solidFill>
                  <a:srgbClr val="FF6FA5"/>
                </a:solidFill>
                <a:latin typeface="Segoe UI Semibold"/>
              </a:rPr>
              <a:t>Models</a:t>
            </a:r>
          </a:p>
        </p:txBody>
      </p:sp>
      <p:sp>
        <p:nvSpPr>
          <p:cNvPr id="23" name="TextBox 22"/>
          <p:cNvSpPr txBox="1"/>
          <p:nvPr/>
        </p:nvSpPr>
        <p:spPr>
          <a:xfrm>
            <a:off x="2651760" y="4572000"/>
            <a:ext cx="8778240" cy="365760"/>
          </a:xfrm>
          <a:prstGeom prst="rect">
            <a:avLst/>
          </a:prstGeom>
          <a:noFill/>
        </p:spPr>
        <p:txBody>
          <a:bodyPr wrap="square" lIns="18288" rIns="18288" tIns="18288" bIns="18288" anchor="t">
            <a:spAutoFit/>
          </a:bodyPr>
          <a:lstStyle/>
          <a:p>
            <a:pPr algn="l">
              <a:lnSpc>
                <a:spcPct val="115000"/>
              </a:lnSpc>
            </a:pPr>
            <a:r>
              <a:rPr sz="1700" b="0">
                <a:solidFill>
                  <a:srgbClr val="EDF0FF"/>
                </a:solidFill>
                <a:latin typeface="Segoe UI"/>
              </a:rPr>
              <a:t>Which models do we depend on, and are they fast enough?</a:t>
            </a:r>
          </a:p>
        </p:txBody>
      </p:sp>
      <p:sp>
        <p:nvSpPr>
          <p:cNvPr id="24" name="Rounded Rectangle 23"/>
          <p:cNvSpPr/>
          <p:nvPr/>
        </p:nvSpPr>
        <p:spPr>
          <a:xfrm>
            <a:off x="548640" y="5202936"/>
            <a:ext cx="11064240" cy="658368"/>
          </a:xfrm>
          <a:prstGeom prst="roundRect">
            <a:avLst>
              <a:gd name="adj" fmla="val 1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 y="5440679"/>
            <a:ext cx="182880" cy="182880"/>
          </a:xfrm>
          <a:prstGeom prst="ellipse">
            <a:avLst/>
          </a:prstGeom>
          <a:solidFill>
            <a:srgbClr val="38E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5358383"/>
            <a:ext cx="1463040" cy="365760"/>
          </a:xfrm>
          <a:prstGeom prst="rect">
            <a:avLst/>
          </a:prstGeom>
          <a:noFill/>
        </p:spPr>
        <p:txBody>
          <a:bodyPr wrap="square" lIns="18288" rIns="18288" tIns="18288" bIns="18288" anchor="t">
            <a:spAutoFit/>
          </a:bodyPr>
          <a:lstStyle/>
          <a:p>
            <a:pPr algn="l">
              <a:lnSpc>
                <a:spcPct val="115000"/>
              </a:lnSpc>
            </a:pPr>
            <a:r>
              <a:rPr sz="1500" b="0">
                <a:solidFill>
                  <a:srgbClr val="38E2C8"/>
                </a:solidFill>
                <a:latin typeface="Segoe UI Semibold"/>
              </a:rPr>
              <a:t>Now</a:t>
            </a:r>
          </a:p>
        </p:txBody>
      </p:sp>
      <p:sp>
        <p:nvSpPr>
          <p:cNvPr id="27" name="TextBox 26"/>
          <p:cNvSpPr txBox="1"/>
          <p:nvPr/>
        </p:nvSpPr>
        <p:spPr>
          <a:xfrm>
            <a:off x="2651760" y="5358383"/>
            <a:ext cx="8778240" cy="365760"/>
          </a:xfrm>
          <a:prstGeom prst="rect">
            <a:avLst/>
          </a:prstGeom>
          <a:noFill/>
        </p:spPr>
        <p:txBody>
          <a:bodyPr wrap="square" lIns="18288" rIns="18288" tIns="18288" bIns="18288" anchor="t">
            <a:spAutoFit/>
          </a:bodyPr>
          <a:lstStyle/>
          <a:p>
            <a:pPr algn="l">
              <a:lnSpc>
                <a:spcPct val="115000"/>
              </a:lnSpc>
            </a:pPr>
            <a:r>
              <a:rPr sz="1700" b="0">
                <a:solidFill>
                  <a:srgbClr val="EDF0FF"/>
                </a:solidFill>
                <a:latin typeface="Segoe UI"/>
              </a:rPr>
              <a:t>What happened today, not two days ago?</a:t>
            </a:r>
          </a:p>
        </p:txBody>
      </p:sp>
      <p:sp>
        <p:nvSpPr>
          <p:cNvPr id="28" name="TextBox 27"/>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Today this data is spread across tools, or simply not collected.</a:t>
            </a:r>
          </a:p>
        </p:txBody>
      </p:sp>
      <p:sp>
        <p:nvSpPr>
          <p:cNvPr id="29" name="TextBox 28"/>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04</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What exists today, and where it stops</a:t>
            </a:r>
          </a:p>
        </p:txBody>
      </p:sp>
      <p:sp>
        <p:nvSpPr>
          <p:cNvPr id="7" name="TextBox 6"/>
          <p:cNvSpPr txBox="1"/>
          <p:nvPr/>
        </p:nvSpPr>
        <p:spPr>
          <a:xfrm>
            <a:off x="685800" y="1417320"/>
            <a:ext cx="3246120" cy="36576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Semibold"/>
              </a:rPr>
              <a:t>Option</a:t>
            </a:r>
          </a:p>
        </p:txBody>
      </p:sp>
      <p:sp>
        <p:nvSpPr>
          <p:cNvPr id="8" name="TextBox 7"/>
          <p:cNvSpPr txBox="1"/>
          <p:nvPr/>
        </p:nvSpPr>
        <p:spPr>
          <a:xfrm>
            <a:off x="4114800" y="1417320"/>
            <a:ext cx="3108960" cy="36576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Semibold"/>
              </a:rPr>
              <a:t>Good at</a:t>
            </a:r>
          </a:p>
        </p:txBody>
      </p:sp>
      <p:sp>
        <p:nvSpPr>
          <p:cNvPr id="9" name="TextBox 8"/>
          <p:cNvSpPr txBox="1"/>
          <p:nvPr/>
        </p:nvSpPr>
        <p:spPr>
          <a:xfrm>
            <a:off x="7406640" y="1417320"/>
            <a:ext cx="4343400" cy="36576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Semibold"/>
              </a:rPr>
              <a:t>Where it stops</a:t>
            </a:r>
          </a:p>
        </p:txBody>
      </p:sp>
      <p:sp>
        <p:nvSpPr>
          <p:cNvPr id="10" name="Rounded Rectangle 9"/>
          <p:cNvSpPr/>
          <p:nvPr/>
        </p:nvSpPr>
        <p:spPr>
          <a:xfrm>
            <a:off x="548640" y="1828800"/>
            <a:ext cx="11064240" cy="1152144"/>
          </a:xfrm>
          <a:prstGeom prst="roundRect">
            <a:avLst>
              <a:gd name="adj" fmla="val 10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49808" y="2057400"/>
            <a:ext cx="146304" cy="146304"/>
          </a:xfrm>
          <a:prstGeom prst="ellipse">
            <a:avLst/>
          </a:prstGeom>
          <a:solidFill>
            <a:srgbClr val="38E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993392"/>
            <a:ext cx="2880360" cy="91440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Semibold"/>
              </a:rPr>
              <a:t>GitHub Copilot usage metrics</a:t>
            </a:r>
          </a:p>
        </p:txBody>
      </p:sp>
      <p:sp>
        <p:nvSpPr>
          <p:cNvPr id="13" name="TextBox 12"/>
          <p:cNvSpPr txBox="1"/>
          <p:nvPr/>
        </p:nvSpPr>
        <p:spPr>
          <a:xfrm>
            <a:off x="4114800" y="1993392"/>
            <a:ext cx="3108960" cy="9144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Adoption: active users, acceptance rates, lines of code; breakdowns by model, feature and IDE</a:t>
            </a:r>
          </a:p>
        </p:txBody>
      </p:sp>
      <p:sp>
        <p:nvSpPr>
          <p:cNvPr id="14" name="TextBox 13"/>
          <p:cNvSpPr txBox="1"/>
          <p:nvPr/>
        </p:nvSpPr>
        <p:spPr>
          <a:xfrm>
            <a:off x="7406640" y="1993392"/>
            <a:ext cx="4343400" cy="914400"/>
          </a:xfrm>
          <a:prstGeom prst="rect">
            <a:avLst/>
          </a:prstGeom>
          <a:noFill/>
        </p:spPr>
        <p:txBody>
          <a:bodyPr wrap="square" lIns="18288" rIns="18288" tIns="18288" bIns="18288" anchor="t">
            <a:spAutoFit/>
          </a:bodyPr>
          <a:lstStyle/>
          <a:p>
            <a:pPr algn="l">
              <a:lnSpc>
                <a:spcPct val="115000"/>
              </a:lnSpc>
            </a:pPr>
            <a:r>
              <a:rPr sz="1300" b="0">
                <a:solidFill>
                  <a:srgbClr val="EDF0FF"/>
                </a:solidFill>
                <a:latin typeface="Segoe UI"/>
              </a:rPr>
              <a:t>Daily reports, usually 1–3 days behind. Built around Copilot features, not our own agent catalogue. No per-call tokens or latency per custom agent; no team hierarchy built in.</a:t>
            </a:r>
          </a:p>
        </p:txBody>
      </p:sp>
      <p:sp>
        <p:nvSpPr>
          <p:cNvPr id="15" name="Rounded Rectangle 14"/>
          <p:cNvSpPr/>
          <p:nvPr/>
        </p:nvSpPr>
        <p:spPr>
          <a:xfrm>
            <a:off x="548640" y="3127248"/>
            <a:ext cx="11064240" cy="1152144"/>
          </a:xfrm>
          <a:prstGeom prst="roundRect">
            <a:avLst>
              <a:gd name="adj" fmla="val 10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49808" y="3355848"/>
            <a:ext cx="146304" cy="146304"/>
          </a:xfrm>
          <a:prstGeom prst="ellipse">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291840"/>
            <a:ext cx="2880360" cy="91440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Semibold"/>
              </a:rPr>
              <a:t>LLM app observability</a:t>
            </a:r>
          </a:p>
          <a:p>
            <a:pPr algn="l">
              <a:lnSpc>
                <a:spcPct val="115000"/>
              </a:lnSpc>
            </a:pPr>
            <a:r>
              <a:rPr sz="1100" b="0">
                <a:solidFill>
                  <a:srgbClr val="9BA1C4"/>
                </a:solidFill>
                <a:latin typeface="Segoe UI"/>
              </a:rPr>
              <a:t>(LangSmith, Langfuse, Helicone, Datadog LLM Obs.)</a:t>
            </a:r>
          </a:p>
        </p:txBody>
      </p:sp>
      <p:sp>
        <p:nvSpPr>
          <p:cNvPr id="18" name="TextBox 17"/>
          <p:cNvSpPr txBox="1"/>
          <p:nvPr/>
        </p:nvSpPr>
        <p:spPr>
          <a:xfrm>
            <a:off x="4114800" y="3291840"/>
            <a:ext cx="3108960" cy="9144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Tracing production LLM apps that developers instrument themselves</a:t>
            </a:r>
          </a:p>
        </p:txBody>
      </p:sp>
      <p:sp>
        <p:nvSpPr>
          <p:cNvPr id="19" name="TextBox 18"/>
          <p:cNvSpPr txBox="1"/>
          <p:nvPr/>
        </p:nvSpPr>
        <p:spPr>
          <a:xfrm>
            <a:off x="7406640" y="3291840"/>
            <a:ext cx="4343400" cy="914400"/>
          </a:xfrm>
          <a:prstGeom prst="rect">
            <a:avLst/>
          </a:prstGeom>
          <a:noFill/>
        </p:spPr>
        <p:txBody>
          <a:bodyPr wrap="square" lIns="18288" rIns="18288" tIns="18288" bIns="18288" anchor="t">
            <a:spAutoFit/>
          </a:bodyPr>
          <a:lstStyle/>
          <a:p>
            <a:pPr algn="l">
              <a:lnSpc>
                <a:spcPct val="115000"/>
              </a:lnSpc>
            </a:pPr>
            <a:r>
              <a:rPr sz="1300" b="0">
                <a:solidFill>
                  <a:srgbClr val="EDF0FF"/>
                </a:solidFill>
                <a:latin typeface="Segoe UI"/>
              </a:rPr>
              <a:t>Built for one app's developers, not for leaders steering AI use across an organization. They do not know our teams or our agent catalogue.</a:t>
            </a:r>
          </a:p>
        </p:txBody>
      </p:sp>
      <p:sp>
        <p:nvSpPr>
          <p:cNvPr id="20" name="Rounded Rectangle 19"/>
          <p:cNvSpPr/>
          <p:nvPr/>
        </p:nvSpPr>
        <p:spPr>
          <a:xfrm>
            <a:off x="548640" y="4425696"/>
            <a:ext cx="11064240" cy="1152144"/>
          </a:xfrm>
          <a:prstGeom prst="roundRect">
            <a:avLst>
              <a:gd name="adj" fmla="val 10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9808" y="4654296"/>
            <a:ext cx="146304" cy="146304"/>
          </a:xfrm>
          <a:prstGeom prst="ellipse">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590288"/>
            <a:ext cx="2880360" cy="91440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Semibold"/>
              </a:rPr>
              <a:t>Spreadsheets and surveys</a:t>
            </a:r>
          </a:p>
        </p:txBody>
      </p:sp>
      <p:sp>
        <p:nvSpPr>
          <p:cNvPr id="23" name="TextBox 22"/>
          <p:cNvSpPr txBox="1"/>
          <p:nvPr/>
        </p:nvSpPr>
        <p:spPr>
          <a:xfrm>
            <a:off x="4114800" y="4590288"/>
            <a:ext cx="3108960" cy="9144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Cheap and familiar</a:t>
            </a:r>
          </a:p>
        </p:txBody>
      </p:sp>
      <p:sp>
        <p:nvSpPr>
          <p:cNvPr id="24" name="TextBox 23"/>
          <p:cNvSpPr txBox="1"/>
          <p:nvPr/>
        </p:nvSpPr>
        <p:spPr>
          <a:xfrm>
            <a:off x="7406640" y="4590288"/>
            <a:ext cx="4343400" cy="914400"/>
          </a:xfrm>
          <a:prstGeom prst="rect">
            <a:avLst/>
          </a:prstGeom>
          <a:noFill/>
        </p:spPr>
        <p:txBody>
          <a:bodyPr wrap="square" lIns="18288" rIns="18288" tIns="18288" bIns="18288" anchor="t">
            <a:spAutoFit/>
          </a:bodyPr>
          <a:lstStyle/>
          <a:p>
            <a:pPr algn="l">
              <a:lnSpc>
                <a:spcPct val="115000"/>
              </a:lnSpc>
            </a:pPr>
            <a:r>
              <a:rPr sz="1300" b="0">
                <a:solidFill>
                  <a:srgbClr val="EDF0FF"/>
                </a:solidFill>
                <a:latin typeface="Segoe UI"/>
              </a:rPr>
              <a:t>Manual, slow, and based on opinion rather than measurement.</a:t>
            </a:r>
          </a:p>
        </p:txBody>
      </p:sp>
      <p:sp>
        <p:nvSpPr>
          <p:cNvPr id="25" name="Rounded Rectangle 24"/>
          <p:cNvSpPr/>
          <p:nvPr/>
        </p:nvSpPr>
        <p:spPr>
          <a:xfrm>
            <a:off x="548640" y="5779008"/>
            <a:ext cx="11064240" cy="548640"/>
          </a:xfrm>
          <a:prstGeom prst="roundRect">
            <a:avLst>
              <a:gd name="adj" fmla="val 20000"/>
            </a:avLst>
          </a:prstGeom>
          <a:solidFill>
            <a:srgbClr val="171B2C"/>
          </a:solidFill>
          <a:ln w="9525">
            <a:solidFill>
              <a:srgbClr val="38E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870448"/>
            <a:ext cx="10607040" cy="365760"/>
          </a:xfrm>
          <a:prstGeom prst="rect">
            <a:avLst/>
          </a:prstGeom>
          <a:noFill/>
        </p:spPr>
        <p:txBody>
          <a:bodyPr wrap="square" lIns="18288" rIns="18288" tIns="18288" bIns="18288" anchor="t">
            <a:spAutoFit/>
          </a:bodyPr>
          <a:lstStyle/>
          <a:p>
            <a:pPr algn="l">
              <a:lnSpc>
                <a:spcPct val="115000"/>
              </a:lnSpc>
            </a:pPr>
            <a:r>
              <a:rPr sz="1600" b="0">
                <a:solidFill>
                  <a:srgbClr val="38E2C8"/>
                </a:solidFill>
                <a:latin typeface="Segoe UI Semibold"/>
              </a:rPr>
              <a:t>The gap: </a:t>
            </a:r>
            <a:r>
              <a:rPr sz="1600" b="0">
                <a:solidFill>
                  <a:srgbClr val="EDF0FF"/>
                </a:solidFill>
                <a:latin typeface="Segoe UI"/>
              </a:rPr>
              <a:t>nothing shows leadership how the whole organization uses its own agents, live.</a:t>
            </a:r>
          </a:p>
        </p:txBody>
      </p:sp>
      <p:sp>
        <p:nvSpPr>
          <p:cNvPr id="27" name="TextBox 26"/>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GitHub Copilot metrics: GitHub Docs and changelog (metrics GA, Feb 2026). Our GitHub Metrics page shows those reports side by side.</a:t>
            </a:r>
          </a:p>
        </p:txBody>
      </p:sp>
      <p:sp>
        <p:nvSpPr>
          <p:cNvPr id="28" name="TextBox 27"/>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05</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Our solution</a:t>
            </a:r>
          </a:p>
        </p:txBody>
      </p:sp>
      <p:sp>
        <p:nvSpPr>
          <p:cNvPr id="7" name="TextBox 6"/>
          <p:cNvSpPr txBox="1"/>
          <p:nvPr/>
        </p:nvSpPr>
        <p:spPr>
          <a:xfrm>
            <a:off x="548640" y="1325880"/>
            <a:ext cx="11064240" cy="1097280"/>
          </a:xfrm>
          <a:prstGeom prst="rect">
            <a:avLst/>
          </a:prstGeom>
          <a:noFill/>
        </p:spPr>
        <p:txBody>
          <a:bodyPr wrap="square" lIns="18288" rIns="18288" tIns="18288" bIns="18288" anchor="t">
            <a:spAutoFit/>
          </a:bodyPr>
          <a:lstStyle/>
          <a:p>
            <a:pPr algn="l">
              <a:lnSpc>
                <a:spcPct val="110000"/>
              </a:lnSpc>
            </a:pPr>
            <a:r>
              <a:rPr sz="2400" b="0">
                <a:solidFill>
                  <a:srgbClr val="EDF0FF"/>
                </a:solidFill>
                <a:latin typeface="Segoe UI"/>
              </a:rPr>
              <a:t>The AI Control Plane turns Copilot and agent telemetry into a </a:t>
            </a:r>
            <a:r>
              <a:rPr sz="2400" b="0">
                <a:solidFill>
                  <a:srgbClr val="38E2C8"/>
                </a:solidFill>
                <a:latin typeface="Segoe UI Semibold"/>
              </a:rPr>
              <a:t>live map of agents, people, teams and models</a:t>
            </a:r>
            <a:r>
              <a:rPr sz="2400" b="0">
                <a:solidFill>
                  <a:srgbClr val="EDF0FF"/>
                </a:solidFill>
                <a:latin typeface="Segoe UI"/>
              </a:rPr>
              <a:t>, so leaders act on facts the same day.</a:t>
            </a:r>
          </a:p>
        </p:txBody>
      </p:sp>
      <p:sp>
        <p:nvSpPr>
          <p:cNvPr id="8" name="Rounded Rectangle 7"/>
          <p:cNvSpPr/>
          <p:nvPr/>
        </p:nvSpPr>
        <p:spPr>
          <a:xfrm>
            <a:off x="548640" y="2788920"/>
            <a:ext cx="3520440" cy="292608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788920"/>
            <a:ext cx="1097280" cy="45720"/>
          </a:xfrm>
          <a:prstGeom prst="rect">
            <a:avLst/>
          </a:prstGeom>
          <a:solidFill>
            <a:srgbClr val="38E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154680"/>
            <a:ext cx="2926080" cy="457200"/>
          </a:xfrm>
          <a:prstGeom prst="rect">
            <a:avLst/>
          </a:prstGeom>
          <a:noFill/>
        </p:spPr>
        <p:txBody>
          <a:bodyPr wrap="square" lIns="18288" rIns="18288" tIns="18288" bIns="18288" anchor="t">
            <a:spAutoFit/>
          </a:bodyPr>
          <a:lstStyle/>
          <a:p>
            <a:pPr algn="l">
              <a:lnSpc>
                <a:spcPct val="115000"/>
              </a:lnSpc>
            </a:pPr>
            <a:r>
              <a:rPr sz="2200" b="0">
                <a:solidFill>
                  <a:srgbClr val="38E2C8"/>
                </a:solidFill>
                <a:latin typeface="Segoe UI Semibold"/>
              </a:rPr>
              <a:t>1  Capture</a:t>
            </a:r>
          </a:p>
        </p:txBody>
      </p:sp>
      <p:sp>
        <p:nvSpPr>
          <p:cNvPr id="11" name="TextBox 10"/>
          <p:cNvSpPr txBox="1"/>
          <p:nvPr/>
        </p:nvSpPr>
        <p:spPr>
          <a:xfrm>
            <a:off x="868680" y="3794760"/>
            <a:ext cx="2926080" cy="182880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a:rPr>
              <a:t>VS Code Copilot sends each AI call as it happens using OpenTelemetry, the industry standard. Our own Python agents send the same with one small wrapper.</a:t>
            </a:r>
          </a:p>
        </p:txBody>
      </p:sp>
      <p:sp>
        <p:nvSpPr>
          <p:cNvPr id="12" name="Rounded Rectangle 11"/>
          <p:cNvSpPr/>
          <p:nvPr/>
        </p:nvSpPr>
        <p:spPr>
          <a:xfrm>
            <a:off x="4297679" y="2788920"/>
            <a:ext cx="3520440" cy="292608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26279" y="2788920"/>
            <a:ext cx="1097280" cy="45720"/>
          </a:xfrm>
          <a:prstGeom prst="rect">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19" y="3154680"/>
            <a:ext cx="2926080" cy="457200"/>
          </a:xfrm>
          <a:prstGeom prst="rect">
            <a:avLst/>
          </a:prstGeom>
          <a:noFill/>
        </p:spPr>
        <p:txBody>
          <a:bodyPr wrap="square" lIns="18288" rIns="18288" tIns="18288" bIns="18288" anchor="t">
            <a:spAutoFit/>
          </a:bodyPr>
          <a:lstStyle/>
          <a:p>
            <a:pPr algn="l">
              <a:lnSpc>
                <a:spcPct val="115000"/>
              </a:lnSpc>
            </a:pPr>
            <a:r>
              <a:rPr sz="2200" b="0">
                <a:solidFill>
                  <a:srgbClr val="A08BFF"/>
                </a:solidFill>
                <a:latin typeface="Segoe UI Semibold"/>
              </a:rPr>
              <a:t>2  Understand</a:t>
            </a:r>
          </a:p>
        </p:txBody>
      </p:sp>
      <p:sp>
        <p:nvSpPr>
          <p:cNvPr id="15" name="TextBox 14"/>
          <p:cNvSpPr txBox="1"/>
          <p:nvPr/>
        </p:nvSpPr>
        <p:spPr>
          <a:xfrm>
            <a:off x="4617719" y="3794760"/>
            <a:ext cx="2926080" cy="182880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a:rPr>
              <a:t>A receiver records tokens, latency, model and person for every call, links it to the right team and catalogue agent, and estimates cost.</a:t>
            </a:r>
          </a:p>
        </p:txBody>
      </p:sp>
      <p:sp>
        <p:nvSpPr>
          <p:cNvPr id="16" name="Rounded Rectangle 15"/>
          <p:cNvSpPr/>
          <p:nvPr/>
        </p:nvSpPr>
        <p:spPr>
          <a:xfrm>
            <a:off x="8046719" y="2788920"/>
            <a:ext cx="3520440" cy="292608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75319" y="2788920"/>
            <a:ext cx="1097280" cy="45720"/>
          </a:xfrm>
          <a:prstGeom prst="rect">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59" y="3154680"/>
            <a:ext cx="2926080" cy="457200"/>
          </a:xfrm>
          <a:prstGeom prst="rect">
            <a:avLst/>
          </a:prstGeom>
          <a:noFill/>
        </p:spPr>
        <p:txBody>
          <a:bodyPr wrap="square" lIns="18288" rIns="18288" tIns="18288" bIns="18288" anchor="t">
            <a:spAutoFit/>
          </a:bodyPr>
          <a:lstStyle/>
          <a:p>
            <a:pPr algn="l">
              <a:lnSpc>
                <a:spcPct val="115000"/>
              </a:lnSpc>
            </a:pPr>
            <a:r>
              <a:rPr sz="2200" b="0">
                <a:solidFill>
                  <a:srgbClr val="FF8F5E"/>
                </a:solidFill>
                <a:latin typeface="Segoe UI Semibold"/>
              </a:rPr>
              <a:t>3  Act</a:t>
            </a:r>
          </a:p>
        </p:txBody>
      </p:sp>
      <p:sp>
        <p:nvSpPr>
          <p:cNvPr id="19" name="TextBox 18"/>
          <p:cNvSpPr txBox="1"/>
          <p:nvPr/>
        </p:nvSpPr>
        <p:spPr>
          <a:xfrm>
            <a:off x="8366759" y="3794760"/>
            <a:ext cx="2926080" cy="182880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a:rPr>
              <a:t>One dashboard: Overview, Organization, Catalog, Models and Activity, with GitHub's own metrics side by side.</a:t>
            </a:r>
          </a:p>
        </p:txBody>
      </p:sp>
      <p:sp>
        <p:nvSpPr>
          <p:cNvPr id="20" name="TextBox 19"/>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
            </a:r>
          </a:p>
        </p:txBody>
      </p:sp>
      <p:sp>
        <p:nvSpPr>
          <p:cNvPr id="21" name="TextBox 20"/>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06</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How it works</a:t>
            </a:r>
          </a:p>
        </p:txBody>
      </p:sp>
      <p:sp>
        <p:nvSpPr>
          <p:cNvPr id="7" name="TextBox 6"/>
          <p:cNvSpPr txBox="1"/>
          <p:nvPr/>
        </p:nvSpPr>
        <p:spPr>
          <a:xfrm>
            <a:off x="548640" y="1298448"/>
            <a:ext cx="11064240" cy="54864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From a prompt in VS Code to a decision in the control plane, in seconds.</a:t>
            </a:r>
          </a:p>
        </p:txBody>
      </p:sp>
      <p:sp>
        <p:nvSpPr>
          <p:cNvPr id="8" name="Rectangle 7"/>
          <p:cNvSpPr/>
          <p:nvPr/>
        </p:nvSpPr>
        <p:spPr>
          <a:xfrm>
            <a:off x="1280160" y="2697480"/>
            <a:ext cx="9692640" cy="36576"/>
          </a:xfrm>
          <a:prstGeom prst="rect">
            <a:avLst/>
          </a:prstGeom>
          <a:solidFill>
            <a:srgbClr val="26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2331720"/>
            <a:ext cx="777240" cy="777240"/>
          </a:xfrm>
          <a:prstGeom prst="ellipse">
            <a:avLst/>
          </a:prstGeom>
          <a:solidFill>
            <a:srgbClr val="101321"/>
          </a:solidFill>
          <a:ln w="25400">
            <a:solidFill>
              <a:srgbClr val="38E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468880"/>
            <a:ext cx="777240" cy="457200"/>
          </a:xfrm>
          <a:prstGeom prst="rect">
            <a:avLst/>
          </a:prstGeom>
          <a:noFill/>
        </p:spPr>
        <p:txBody>
          <a:bodyPr wrap="square" lIns="18288" rIns="18288" tIns="18288" bIns="18288" anchor="t">
            <a:spAutoFit/>
          </a:bodyPr>
          <a:lstStyle/>
          <a:p>
            <a:pPr algn="ctr">
              <a:lnSpc>
                <a:spcPct val="115000"/>
              </a:lnSpc>
            </a:pPr>
            <a:r>
              <a:rPr sz="2000" b="0">
                <a:solidFill>
                  <a:srgbClr val="38E2C8"/>
                </a:solidFill>
                <a:latin typeface="Segoe UI Semibold"/>
              </a:rPr>
              <a:t>1</a:t>
            </a:r>
          </a:p>
        </p:txBody>
      </p:sp>
      <p:sp>
        <p:nvSpPr>
          <p:cNvPr id="11" name="TextBox 10"/>
          <p:cNvSpPr txBox="1"/>
          <p:nvPr/>
        </p:nvSpPr>
        <p:spPr>
          <a:xfrm>
            <a:off x="731520" y="3291840"/>
            <a:ext cx="2560320" cy="457200"/>
          </a:xfrm>
          <a:prstGeom prst="rect">
            <a:avLst/>
          </a:prstGeom>
          <a:noFill/>
        </p:spPr>
        <p:txBody>
          <a:bodyPr wrap="square" lIns="18288" rIns="18288" tIns="18288" bIns="18288" anchor="t">
            <a:spAutoFit/>
          </a:bodyPr>
          <a:lstStyle/>
          <a:p>
            <a:pPr algn="l">
              <a:lnSpc>
                <a:spcPct val="115000"/>
              </a:lnSpc>
            </a:pPr>
            <a:r>
              <a:rPr sz="1800" b="0">
                <a:solidFill>
                  <a:srgbClr val="EDF0FF"/>
                </a:solidFill>
                <a:latin typeface="Segoe UI Semibold"/>
              </a:rPr>
              <a:t>Copilot in VS Code</a:t>
            </a:r>
          </a:p>
        </p:txBody>
      </p:sp>
      <p:sp>
        <p:nvSpPr>
          <p:cNvPr id="12" name="TextBox 11"/>
          <p:cNvSpPr txBox="1"/>
          <p:nvPr/>
        </p:nvSpPr>
        <p:spPr>
          <a:xfrm>
            <a:off x="731520" y="3749039"/>
            <a:ext cx="2468880" cy="9144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Agents and chat export OpenTelemetry spans as people work</a:t>
            </a:r>
          </a:p>
        </p:txBody>
      </p:sp>
      <p:sp>
        <p:nvSpPr>
          <p:cNvPr id="13" name="Oval 12"/>
          <p:cNvSpPr/>
          <p:nvPr/>
        </p:nvSpPr>
        <p:spPr>
          <a:xfrm>
            <a:off x="3886200" y="2331720"/>
            <a:ext cx="777240" cy="777240"/>
          </a:xfrm>
          <a:prstGeom prst="ellipse">
            <a:avLst/>
          </a:prstGeom>
          <a:solidFill>
            <a:srgbClr val="101321"/>
          </a:solidFill>
          <a:ln w="25400">
            <a:solidFill>
              <a:srgbClr val="A0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86200" y="2468880"/>
            <a:ext cx="777240" cy="457200"/>
          </a:xfrm>
          <a:prstGeom prst="rect">
            <a:avLst/>
          </a:prstGeom>
          <a:noFill/>
        </p:spPr>
        <p:txBody>
          <a:bodyPr wrap="square" lIns="18288" rIns="18288" tIns="18288" bIns="18288" anchor="t">
            <a:spAutoFit/>
          </a:bodyPr>
          <a:lstStyle/>
          <a:p>
            <a:pPr algn="ctr">
              <a:lnSpc>
                <a:spcPct val="115000"/>
              </a:lnSpc>
            </a:pPr>
            <a:r>
              <a:rPr sz="2000" b="0">
                <a:solidFill>
                  <a:srgbClr val="A08BFF"/>
                </a:solidFill>
                <a:latin typeface="Segoe UI Semibold"/>
              </a:rPr>
              <a:t>2</a:t>
            </a:r>
          </a:p>
        </p:txBody>
      </p:sp>
      <p:sp>
        <p:nvSpPr>
          <p:cNvPr id="15" name="TextBox 14"/>
          <p:cNvSpPr txBox="1"/>
          <p:nvPr/>
        </p:nvSpPr>
        <p:spPr>
          <a:xfrm>
            <a:off x="3566160" y="3291840"/>
            <a:ext cx="2560320" cy="457200"/>
          </a:xfrm>
          <a:prstGeom prst="rect">
            <a:avLst/>
          </a:prstGeom>
          <a:noFill/>
        </p:spPr>
        <p:txBody>
          <a:bodyPr wrap="square" lIns="18288" rIns="18288" tIns="18288" bIns="18288" anchor="t">
            <a:spAutoFit/>
          </a:bodyPr>
          <a:lstStyle/>
          <a:p>
            <a:pPr algn="l">
              <a:lnSpc>
                <a:spcPct val="115000"/>
              </a:lnSpc>
            </a:pPr>
            <a:r>
              <a:rPr sz="1800" b="0">
                <a:solidFill>
                  <a:srgbClr val="EDF0FF"/>
                </a:solidFill>
                <a:latin typeface="Segoe UI Semibold"/>
              </a:rPr>
              <a:t>OTLP receiver</a:t>
            </a:r>
          </a:p>
        </p:txBody>
      </p:sp>
      <p:sp>
        <p:nvSpPr>
          <p:cNvPr id="16" name="TextBox 15"/>
          <p:cNvSpPr txBox="1"/>
          <p:nvPr/>
        </p:nvSpPr>
        <p:spPr>
          <a:xfrm>
            <a:off x="3566160" y="3749039"/>
            <a:ext cx="2468880" cy="9144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Calls, tokens, latency and identities are recorded and priced</a:t>
            </a:r>
          </a:p>
        </p:txBody>
      </p:sp>
      <p:sp>
        <p:nvSpPr>
          <p:cNvPr id="17" name="Oval 16"/>
          <p:cNvSpPr/>
          <p:nvPr/>
        </p:nvSpPr>
        <p:spPr>
          <a:xfrm>
            <a:off x="6720840" y="2331720"/>
            <a:ext cx="777240" cy="777240"/>
          </a:xfrm>
          <a:prstGeom prst="ellipse">
            <a:avLst/>
          </a:prstGeom>
          <a:solidFill>
            <a:srgbClr val="101321"/>
          </a:solidFill>
          <a:ln w="25400">
            <a:solidFill>
              <a:srgbClr val="FF8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2468880"/>
            <a:ext cx="777240" cy="457200"/>
          </a:xfrm>
          <a:prstGeom prst="rect">
            <a:avLst/>
          </a:prstGeom>
          <a:noFill/>
        </p:spPr>
        <p:txBody>
          <a:bodyPr wrap="square" lIns="18288" rIns="18288" tIns="18288" bIns="18288" anchor="t">
            <a:spAutoFit/>
          </a:bodyPr>
          <a:lstStyle/>
          <a:p>
            <a:pPr algn="ctr">
              <a:lnSpc>
                <a:spcPct val="115000"/>
              </a:lnSpc>
            </a:pPr>
            <a:r>
              <a:rPr sz="2000" b="0">
                <a:solidFill>
                  <a:srgbClr val="FF8F5E"/>
                </a:solidFill>
                <a:latin typeface="Segoe UI Semibold"/>
              </a:rPr>
              <a:t>3</a:t>
            </a:r>
          </a:p>
        </p:txBody>
      </p:sp>
      <p:sp>
        <p:nvSpPr>
          <p:cNvPr id="19" name="TextBox 18"/>
          <p:cNvSpPr txBox="1"/>
          <p:nvPr/>
        </p:nvSpPr>
        <p:spPr>
          <a:xfrm>
            <a:off x="6400800" y="3291840"/>
            <a:ext cx="2560320" cy="457200"/>
          </a:xfrm>
          <a:prstGeom prst="rect">
            <a:avLst/>
          </a:prstGeom>
          <a:noFill/>
        </p:spPr>
        <p:txBody>
          <a:bodyPr wrap="square" lIns="18288" rIns="18288" tIns="18288" bIns="18288" anchor="t">
            <a:spAutoFit/>
          </a:bodyPr>
          <a:lstStyle/>
          <a:p>
            <a:pPr algn="l">
              <a:lnSpc>
                <a:spcPct val="115000"/>
              </a:lnSpc>
            </a:pPr>
            <a:r>
              <a:rPr sz="1800" b="0">
                <a:solidFill>
                  <a:srgbClr val="EDF0FF"/>
                </a:solidFill>
                <a:latin typeface="Segoe UI Semibold"/>
              </a:rPr>
              <a:t>Ledger</a:t>
            </a:r>
          </a:p>
        </p:txBody>
      </p:sp>
      <p:sp>
        <p:nvSpPr>
          <p:cNvPr id="20" name="TextBox 19"/>
          <p:cNvSpPr txBox="1"/>
          <p:nvPr/>
        </p:nvSpPr>
        <p:spPr>
          <a:xfrm>
            <a:off x="6400800" y="3749039"/>
            <a:ext cx="2468880" cy="9144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Usage is joined with teams and the DevJourney catalogue</a:t>
            </a:r>
          </a:p>
        </p:txBody>
      </p:sp>
      <p:sp>
        <p:nvSpPr>
          <p:cNvPr id="21" name="Oval 20"/>
          <p:cNvSpPr/>
          <p:nvPr/>
        </p:nvSpPr>
        <p:spPr>
          <a:xfrm>
            <a:off x="9555480" y="2331720"/>
            <a:ext cx="777240" cy="777240"/>
          </a:xfrm>
          <a:prstGeom prst="ellipse">
            <a:avLst/>
          </a:prstGeom>
          <a:solidFill>
            <a:srgbClr val="101321"/>
          </a:solidFill>
          <a:ln w="25400">
            <a:solidFill>
              <a:srgbClr val="95E3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55480" y="2468880"/>
            <a:ext cx="777240" cy="457200"/>
          </a:xfrm>
          <a:prstGeom prst="rect">
            <a:avLst/>
          </a:prstGeom>
          <a:noFill/>
        </p:spPr>
        <p:txBody>
          <a:bodyPr wrap="square" lIns="18288" rIns="18288" tIns="18288" bIns="18288" anchor="t">
            <a:spAutoFit/>
          </a:bodyPr>
          <a:lstStyle/>
          <a:p>
            <a:pPr algn="ctr">
              <a:lnSpc>
                <a:spcPct val="115000"/>
              </a:lnSpc>
            </a:pPr>
            <a:r>
              <a:rPr sz="2000" b="0">
                <a:solidFill>
                  <a:srgbClr val="95E36F"/>
                </a:solidFill>
                <a:latin typeface="Segoe UI Semibold"/>
              </a:rPr>
              <a:t>4</a:t>
            </a:r>
          </a:p>
        </p:txBody>
      </p:sp>
      <p:sp>
        <p:nvSpPr>
          <p:cNvPr id="23" name="TextBox 22"/>
          <p:cNvSpPr txBox="1"/>
          <p:nvPr/>
        </p:nvSpPr>
        <p:spPr>
          <a:xfrm>
            <a:off x="9235440" y="3291840"/>
            <a:ext cx="2560320" cy="457200"/>
          </a:xfrm>
          <a:prstGeom prst="rect">
            <a:avLst/>
          </a:prstGeom>
          <a:noFill/>
        </p:spPr>
        <p:txBody>
          <a:bodyPr wrap="square" lIns="18288" rIns="18288" tIns="18288" bIns="18288" anchor="t">
            <a:spAutoFit/>
          </a:bodyPr>
          <a:lstStyle/>
          <a:p>
            <a:pPr algn="l">
              <a:lnSpc>
                <a:spcPct val="115000"/>
              </a:lnSpc>
            </a:pPr>
            <a:r>
              <a:rPr sz="1800" b="0">
                <a:solidFill>
                  <a:srgbClr val="EDF0FF"/>
                </a:solidFill>
                <a:latin typeface="Segoe UI Semibold"/>
              </a:rPr>
              <a:t>AI Control Plane</a:t>
            </a:r>
          </a:p>
        </p:txBody>
      </p:sp>
      <p:sp>
        <p:nvSpPr>
          <p:cNvPr id="24" name="TextBox 23"/>
          <p:cNvSpPr txBox="1"/>
          <p:nvPr/>
        </p:nvSpPr>
        <p:spPr>
          <a:xfrm>
            <a:off x="9235440" y="3749039"/>
            <a:ext cx="2468880" cy="9144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One live picture of agents, people, teams and models</a:t>
            </a:r>
          </a:p>
        </p:txBody>
      </p:sp>
      <p:sp>
        <p:nvSpPr>
          <p:cNvPr id="25" name="Rounded Rectangle 24"/>
          <p:cNvSpPr/>
          <p:nvPr/>
        </p:nvSpPr>
        <p:spPr>
          <a:xfrm>
            <a:off x="548640" y="4754880"/>
            <a:ext cx="3520440" cy="1508760"/>
          </a:xfrm>
          <a:prstGeom prst="roundRect">
            <a:avLst>
              <a:gd name="adj" fmla="val 8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754880"/>
            <a:ext cx="1097280" cy="45720"/>
          </a:xfrm>
          <a:prstGeom prst="rect">
            <a:avLst/>
          </a:prstGeom>
          <a:solidFill>
            <a:srgbClr val="38E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59" y="4956048"/>
            <a:ext cx="3017520" cy="365760"/>
          </a:xfrm>
          <a:prstGeom prst="rect">
            <a:avLst/>
          </a:prstGeom>
          <a:noFill/>
        </p:spPr>
        <p:txBody>
          <a:bodyPr wrap="square" lIns="18288" rIns="18288" tIns="18288" bIns="18288" anchor="t">
            <a:spAutoFit/>
          </a:bodyPr>
          <a:lstStyle/>
          <a:p>
            <a:pPr algn="l">
              <a:lnSpc>
                <a:spcPct val="115000"/>
              </a:lnSpc>
            </a:pPr>
            <a:r>
              <a:rPr sz="1500" b="0">
                <a:solidFill>
                  <a:srgbClr val="38E2C8"/>
                </a:solidFill>
                <a:latin typeface="Segoe UI Semibold"/>
              </a:rPr>
              <a:t>One org-wide policy</a:t>
            </a:r>
          </a:p>
        </p:txBody>
      </p:sp>
      <p:sp>
        <p:nvSpPr>
          <p:cNvPr id="28" name="TextBox 27"/>
          <p:cNvSpPr txBox="1"/>
          <p:nvPr/>
        </p:nvSpPr>
        <p:spPr>
          <a:xfrm>
            <a:off x="822959" y="5349240"/>
            <a:ext cx="3063240" cy="914400"/>
          </a:xfrm>
          <a:prstGeom prst="rect">
            <a:avLst/>
          </a:prstGeom>
          <a:noFill/>
        </p:spPr>
        <p:txBody>
          <a:bodyPr wrap="square" lIns="18288" rIns="18288" tIns="18288" bIns="18288" anchor="t">
            <a:spAutoFit/>
          </a:bodyPr>
          <a:lstStyle/>
          <a:p>
            <a:pPr algn="l">
              <a:lnSpc>
                <a:spcPct val="115000"/>
              </a:lnSpc>
            </a:pPr>
            <a:r>
              <a:rPr sz="1200" b="0">
                <a:solidFill>
                  <a:srgbClr val="EDF0FF"/>
                </a:solidFill>
                <a:latin typeface="Segoe UI"/>
              </a:rPr>
              <a:t>A single GitHub managed-settings policy turns on capture and identity for everyone. Nobody configures their own machine.</a:t>
            </a:r>
          </a:p>
        </p:txBody>
      </p:sp>
      <p:sp>
        <p:nvSpPr>
          <p:cNvPr id="29" name="Rounded Rectangle 28"/>
          <p:cNvSpPr/>
          <p:nvPr/>
        </p:nvSpPr>
        <p:spPr>
          <a:xfrm>
            <a:off x="4297679" y="4754880"/>
            <a:ext cx="3520440" cy="1508760"/>
          </a:xfrm>
          <a:prstGeom prst="roundRect">
            <a:avLst>
              <a:gd name="adj" fmla="val 8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26279" y="4754880"/>
            <a:ext cx="1097280" cy="45720"/>
          </a:xfrm>
          <a:prstGeom prst="rect">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1999" y="4956048"/>
            <a:ext cx="3017520" cy="365760"/>
          </a:xfrm>
          <a:prstGeom prst="rect">
            <a:avLst/>
          </a:prstGeom>
          <a:noFill/>
        </p:spPr>
        <p:txBody>
          <a:bodyPr wrap="square" lIns="18288" rIns="18288" tIns="18288" bIns="18288" anchor="t">
            <a:spAutoFit/>
          </a:bodyPr>
          <a:lstStyle/>
          <a:p>
            <a:pPr algn="l">
              <a:lnSpc>
                <a:spcPct val="115000"/>
              </a:lnSpc>
            </a:pPr>
            <a:r>
              <a:rPr sz="1500" b="0">
                <a:solidFill>
                  <a:srgbClr val="A08BFF"/>
                </a:solidFill>
                <a:latin typeface="Segoe UI Semibold"/>
              </a:rPr>
              <a:t>Private by design</a:t>
            </a:r>
          </a:p>
        </p:txBody>
      </p:sp>
      <p:sp>
        <p:nvSpPr>
          <p:cNvPr id="32" name="TextBox 31"/>
          <p:cNvSpPr txBox="1"/>
          <p:nvPr/>
        </p:nvSpPr>
        <p:spPr>
          <a:xfrm>
            <a:off x="4571999" y="5349240"/>
            <a:ext cx="3063240" cy="914400"/>
          </a:xfrm>
          <a:prstGeom prst="rect">
            <a:avLst/>
          </a:prstGeom>
          <a:noFill/>
        </p:spPr>
        <p:txBody>
          <a:bodyPr wrap="square" lIns="18288" rIns="18288" tIns="18288" bIns="18288" anchor="t">
            <a:spAutoFit/>
          </a:bodyPr>
          <a:lstStyle/>
          <a:p>
            <a:pPr algn="l">
              <a:lnSpc>
                <a:spcPct val="115000"/>
              </a:lnSpc>
            </a:pPr>
            <a:r>
              <a:rPr sz="1200" b="0">
                <a:solidFill>
                  <a:srgbClr val="EDF0FF"/>
                </a:solidFill>
                <a:latin typeface="Segoe UI"/>
              </a:rPr>
              <a:t>Prompt and code content are never captured (captureContent is off and locked). We measure activity, not content.</a:t>
            </a:r>
          </a:p>
        </p:txBody>
      </p:sp>
      <p:sp>
        <p:nvSpPr>
          <p:cNvPr id="33" name="Rounded Rectangle 32"/>
          <p:cNvSpPr/>
          <p:nvPr/>
        </p:nvSpPr>
        <p:spPr>
          <a:xfrm>
            <a:off x="8046719" y="4754880"/>
            <a:ext cx="3520440" cy="1508760"/>
          </a:xfrm>
          <a:prstGeom prst="roundRect">
            <a:avLst>
              <a:gd name="adj" fmla="val 8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75319" y="4754880"/>
            <a:ext cx="1097280" cy="45720"/>
          </a:xfrm>
          <a:prstGeom prst="rect">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4956048"/>
            <a:ext cx="3017520" cy="365760"/>
          </a:xfrm>
          <a:prstGeom prst="rect">
            <a:avLst/>
          </a:prstGeom>
          <a:noFill/>
        </p:spPr>
        <p:txBody>
          <a:bodyPr wrap="square" lIns="18288" rIns="18288" tIns="18288" bIns="18288" anchor="t">
            <a:spAutoFit/>
          </a:bodyPr>
          <a:lstStyle/>
          <a:p>
            <a:pPr algn="l">
              <a:lnSpc>
                <a:spcPct val="115000"/>
              </a:lnSpc>
            </a:pPr>
            <a:r>
              <a:rPr sz="1500" b="0">
                <a:solidFill>
                  <a:srgbClr val="FF8F5E"/>
                </a:solidFill>
                <a:latin typeface="Segoe UI Semibold"/>
              </a:rPr>
              <a:t>Live</a:t>
            </a:r>
          </a:p>
        </p:txBody>
      </p:sp>
      <p:sp>
        <p:nvSpPr>
          <p:cNvPr id="36" name="TextBox 35"/>
          <p:cNvSpPr txBox="1"/>
          <p:nvPr/>
        </p:nvSpPr>
        <p:spPr>
          <a:xfrm>
            <a:off x="8321040" y="5349240"/>
            <a:ext cx="3063240" cy="914400"/>
          </a:xfrm>
          <a:prstGeom prst="rect">
            <a:avLst/>
          </a:prstGeom>
          <a:noFill/>
        </p:spPr>
        <p:txBody>
          <a:bodyPr wrap="square" lIns="18288" rIns="18288" tIns="18288" bIns="18288" anchor="t">
            <a:spAutoFit/>
          </a:bodyPr>
          <a:lstStyle/>
          <a:p>
            <a:pPr algn="l">
              <a:lnSpc>
                <a:spcPct val="115000"/>
              </a:lnSpc>
            </a:pPr>
            <a:r>
              <a:rPr sz="1200" b="0">
                <a:solidFill>
                  <a:srgbClr val="EDF0FF"/>
                </a:solidFill>
                <a:latin typeface="Segoe UI"/>
              </a:rPr>
              <a:t>New calls appear on the next refresh, every 30 seconds by default.</a:t>
            </a:r>
          </a:p>
        </p:txBody>
      </p:sp>
      <p:sp>
        <p:nvSpPr>
          <p:cNvPr id="37" name="TextBox 36"/>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
            </a:r>
          </a:p>
        </p:txBody>
      </p:sp>
      <p:sp>
        <p:nvSpPr>
          <p:cNvPr id="38" name="TextBox 37"/>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07</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Overview: the morning briefing</a:t>
            </a:r>
          </a:p>
        </p:txBody>
      </p:sp>
      <p:sp>
        <p:nvSpPr>
          <p:cNvPr id="7" name="TextBox 6"/>
          <p:cNvSpPr txBox="1"/>
          <p:nvPr/>
        </p:nvSpPr>
        <p:spPr>
          <a:xfrm>
            <a:off x="548640" y="1298448"/>
            <a:ext cx="11064240" cy="54864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Five cards answer how much of our AI investment is used, how heavily, on what, and how fast.</a:t>
            </a:r>
          </a:p>
        </p:txBody>
      </p:sp>
      <p:sp>
        <p:nvSpPr>
          <p:cNvPr id="8" name="Rounded Rectangle 7"/>
          <p:cNvSpPr/>
          <p:nvPr/>
        </p:nvSpPr>
        <p:spPr>
          <a:xfrm>
            <a:off x="493776" y="1911095"/>
            <a:ext cx="7013448" cy="4426599"/>
          </a:xfrm>
          <a:prstGeom prst="roundRect">
            <a:avLst>
              <a:gd name="adj" fmla="val 3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2-overview.jpg"/>
          <p:cNvPicPr>
            <a:picLocks noChangeAspect="1"/>
          </p:cNvPicPr>
          <p:nvPr/>
        </p:nvPicPr>
        <p:blipFill>
          <a:blip r:embed="rId2"/>
          <a:stretch>
            <a:fillRect/>
          </a:stretch>
        </p:blipFill>
        <p:spPr>
          <a:xfrm>
            <a:off x="548640" y="1965960"/>
            <a:ext cx="6903720" cy="4316871"/>
          </a:xfrm>
          <a:prstGeom prst="rect">
            <a:avLst/>
          </a:prstGeom>
        </p:spPr>
      </p:pic>
      <p:sp>
        <p:nvSpPr>
          <p:cNvPr id="10" name="TextBox 9"/>
          <p:cNvSpPr txBox="1"/>
          <p:nvPr/>
        </p:nvSpPr>
        <p:spPr>
          <a:xfrm>
            <a:off x="7818120" y="1965960"/>
            <a:ext cx="3840480" cy="457200"/>
          </a:xfrm>
          <a:prstGeom prst="rect">
            <a:avLst/>
          </a:prstGeom>
          <a:noFill/>
        </p:spPr>
        <p:txBody>
          <a:bodyPr wrap="square" lIns="18288" rIns="18288" tIns="18288" bIns="18288" anchor="t">
            <a:spAutoFit/>
          </a:bodyPr>
          <a:lstStyle/>
          <a:p>
            <a:pPr algn="l">
              <a:lnSpc>
                <a:spcPct val="125000"/>
              </a:lnSpc>
              <a:spcAft>
                <a:spcPts val="576"/>
              </a:spcAft>
            </a:pPr>
            <a:r>
              <a:rPr sz="1000" b="0">
                <a:solidFill>
                  <a:srgbClr val="38E2C8"/>
                </a:solidFill>
                <a:latin typeface="Segoe UI"/>
              </a:rPr>
              <a:t>●  </a:t>
            </a:r>
            <a:r>
              <a:rPr sz="1400" b="1">
                <a:solidFill>
                  <a:srgbClr val="EDF0FF"/>
                </a:solidFill>
                <a:latin typeface="Segoe UI Semibold"/>
              </a:rPr>
              <a:t>Active agents 53 / 63</a:t>
            </a:r>
            <a:r>
              <a:rPr sz="1400" b="0">
                <a:solidFill>
                  <a:srgbClr val="9BA1C4"/>
                </a:solidFill>
                <a:latin typeface="Segoe UI"/>
              </a:rPr>
              <a:t>: 84% of the catalogue in use</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≈1,290 calls</a:t>
            </a:r>
            <a:r>
              <a:rPr sz="1400" b="0">
                <a:solidFill>
                  <a:srgbClr val="9BA1C4"/>
                </a:solidFill>
                <a:latin typeface="Segoe UI"/>
              </a:rPr>
              <a:t> from 29 people</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6.0M tokens</a:t>
            </a:r>
            <a:r>
              <a:rPr sz="1400" b="0">
                <a:solidFill>
                  <a:srgbClr val="9BA1C4"/>
                </a:solidFill>
                <a:latin typeface="Segoe UI"/>
              </a:rPr>
              <a:t>: 5.2M in, 0.8M out (about 6 : 1)</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8 models</a:t>
            </a:r>
            <a:r>
              <a:rPr sz="1400" b="0">
                <a:solidFill>
                  <a:srgbClr val="9BA1C4"/>
                </a:solidFill>
                <a:latin typeface="Segoe UI"/>
              </a:rPr>
              <a:t>; GPT-4o mini handles the most calls</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0.71 s median latency</a:t>
            </a:r>
            <a:r>
              <a:rPr sz="1400" b="0">
                <a:solidFill>
                  <a:srgbClr val="9BA1C4"/>
                </a:solidFill>
                <a:latin typeface="Segoe UI"/>
              </a:rPr>
              <a:t>; slowest 5% above ≈2.1 s</a:t>
            </a:r>
          </a:p>
        </p:txBody>
      </p:sp>
      <p:sp>
        <p:nvSpPr>
          <p:cNvPr id="11" name="Rounded Rectangle 10"/>
          <p:cNvSpPr/>
          <p:nvPr/>
        </p:nvSpPr>
        <p:spPr>
          <a:xfrm>
            <a:off x="7726679" y="5074920"/>
            <a:ext cx="3931920" cy="1188720"/>
          </a:xfrm>
          <a:prstGeom prst="roundRect">
            <a:avLst>
              <a:gd name="adj" fmla="val 10000"/>
            </a:avLst>
          </a:prstGeom>
          <a:solidFill>
            <a:srgbClr val="171B2C"/>
          </a:solidFill>
          <a:ln w="9525">
            <a:solidFill>
              <a:srgbClr val="95E3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5193792"/>
            <a:ext cx="3566160" cy="1005840"/>
          </a:xfrm>
          <a:prstGeom prst="rect">
            <a:avLst/>
          </a:prstGeom>
          <a:noFill/>
        </p:spPr>
        <p:txBody>
          <a:bodyPr wrap="square" lIns="18288" rIns="18288" tIns="18288" bIns="18288" anchor="t">
            <a:spAutoFit/>
          </a:bodyPr>
          <a:lstStyle/>
          <a:p>
            <a:pPr algn="l">
              <a:lnSpc>
                <a:spcPct val="115000"/>
              </a:lnSpc>
            </a:pPr>
            <a:r>
              <a:rPr sz="1250" b="0">
                <a:solidFill>
                  <a:srgbClr val="95E36F"/>
                </a:solidFill>
                <a:latin typeface="Segoe UI Semibold"/>
              </a:rPr>
              <a:t>Example: </a:t>
            </a:r>
            <a:r>
              <a:rPr sz="1250" b="0">
                <a:solidFill>
                  <a:srgbClr val="EDF0FF"/>
                </a:solidFill>
                <a:latin typeface="Segoe UI"/>
              </a:rPr>
              <a:t>10 agents had no calls in 30 days: a training gap or candidates to retire.</a:t>
            </a:r>
          </a:p>
        </p:txBody>
      </p:sp>
      <p:sp>
        <p:nvSpPr>
          <p:cNvPr id="13" name="TextBox 12"/>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Live snapshot from the AI Control Plane, 31 Oct 2026, last 30 days. Team memberships are demo assignments; cost is an estimate.</a:t>
            </a:r>
          </a:p>
        </p:txBody>
      </p:sp>
      <p:sp>
        <p:nvSpPr>
          <p:cNvPr id="14" name="TextBox 13"/>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08</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Organization: adoption by team</a:t>
            </a:r>
          </a:p>
        </p:txBody>
      </p:sp>
      <p:sp>
        <p:nvSpPr>
          <p:cNvPr id="7" name="TextBox 6"/>
          <p:cNvSpPr txBox="1"/>
          <p:nvPr/>
        </p:nvSpPr>
        <p:spPr>
          <a:xfrm>
            <a:off x="548640" y="1298448"/>
            <a:ext cx="11064240" cy="54864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tth-cto-innovation at the core, five teams in orbit, every person a badge circling their team.</a:t>
            </a:r>
          </a:p>
        </p:txBody>
      </p:sp>
      <p:sp>
        <p:nvSpPr>
          <p:cNvPr id="8" name="Rounded Rectangle 7"/>
          <p:cNvSpPr/>
          <p:nvPr/>
        </p:nvSpPr>
        <p:spPr>
          <a:xfrm>
            <a:off x="493776" y="1911095"/>
            <a:ext cx="7013448" cy="4426599"/>
          </a:xfrm>
          <a:prstGeom prst="roundRect">
            <a:avLst>
              <a:gd name="adj" fmla="val 3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3-organization.jpg"/>
          <p:cNvPicPr>
            <a:picLocks noChangeAspect="1"/>
          </p:cNvPicPr>
          <p:nvPr/>
        </p:nvPicPr>
        <p:blipFill>
          <a:blip r:embed="rId2"/>
          <a:stretch>
            <a:fillRect/>
          </a:stretch>
        </p:blipFill>
        <p:spPr>
          <a:xfrm>
            <a:off x="548640" y="1965960"/>
            <a:ext cx="6903720" cy="4316871"/>
          </a:xfrm>
          <a:prstGeom prst="rect">
            <a:avLst/>
          </a:prstGeom>
        </p:spPr>
      </p:pic>
      <p:sp>
        <p:nvSpPr>
          <p:cNvPr id="10" name="TextBox 9"/>
          <p:cNvSpPr txBox="1"/>
          <p:nvPr/>
        </p:nvSpPr>
        <p:spPr>
          <a:xfrm>
            <a:off x="7818120" y="1965960"/>
            <a:ext cx="3840480" cy="457200"/>
          </a:xfrm>
          <a:prstGeom prst="rect">
            <a:avLst/>
          </a:prstGeom>
          <a:noFill/>
        </p:spPr>
        <p:txBody>
          <a:bodyPr wrap="square" lIns="18288" rIns="18288" tIns="18288" bIns="18288" anchor="t">
            <a:spAutoFit/>
          </a:bodyPr>
          <a:lstStyle/>
          <a:p>
            <a:pPr algn="l">
              <a:lnSpc>
                <a:spcPct val="125000"/>
              </a:lnSpc>
              <a:spcAft>
                <a:spcPts val="576"/>
              </a:spcAft>
            </a:pPr>
            <a:r>
              <a:rPr sz="1000" b="0">
                <a:solidFill>
                  <a:srgbClr val="38E2C8"/>
                </a:solidFill>
                <a:latin typeface="Segoe UI"/>
              </a:rPr>
              <a:t>●  </a:t>
            </a:r>
            <a:r>
              <a:rPr sz="1400" b="1">
                <a:solidFill>
                  <a:srgbClr val="EDF0FF"/>
                </a:solidFill>
                <a:latin typeface="Segoe UI Semibold"/>
              </a:rPr>
              <a:t>Innovation ≈32%</a:t>
            </a:r>
            <a:r>
              <a:rPr sz="1400" b="0">
                <a:solidFill>
                  <a:srgbClr val="9BA1C4"/>
                </a:solidFill>
                <a:latin typeface="Segoe UI"/>
              </a:rPr>
              <a:t> of tokens</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Data ≈28%</a:t>
            </a:r>
            <a:r>
              <a:rPr sz="1400" b="0">
                <a:solidFill>
                  <a:srgbClr val="9BA1C4"/>
                </a:solidFill>
                <a:latin typeface="Segoe UI"/>
              </a:rPr>
              <a:t>, AI ≈18%, Cognitive core ≈16%</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Rapid labs ≈5%</a:t>
            </a:r>
            <a:r>
              <a:rPr sz="1400" b="0">
                <a:solidFill>
                  <a:srgbClr val="9BA1C4"/>
                </a:solidFill>
                <a:latin typeface="Segoe UI"/>
              </a:rPr>
              <a:t>: six people, only a dozen calls</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One click</a:t>
            </a:r>
            <a:r>
              <a:rPr sz="1400" b="0">
                <a:solidFill>
                  <a:srgbClr val="9BA1C4"/>
                </a:solidFill>
                <a:latin typeface="Segoe UI"/>
              </a:rPr>
              <a:t> on a team focuses the whole dashboard</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Team pulse, leaders and members</a:t>
            </a:r>
            <a:r>
              <a:rPr sz="1400" b="0">
                <a:solidFill>
                  <a:srgbClr val="9BA1C4"/>
                </a:solidFill>
                <a:latin typeface="Segoe UI"/>
              </a:rPr>
              <a:t> below the map</a:t>
            </a:r>
          </a:p>
        </p:txBody>
      </p:sp>
      <p:sp>
        <p:nvSpPr>
          <p:cNvPr id="11" name="Rounded Rectangle 10"/>
          <p:cNvSpPr/>
          <p:nvPr/>
        </p:nvSpPr>
        <p:spPr>
          <a:xfrm>
            <a:off x="7726679" y="5074920"/>
            <a:ext cx="3931920" cy="1188720"/>
          </a:xfrm>
          <a:prstGeom prst="roundRect">
            <a:avLst>
              <a:gd name="adj" fmla="val 10000"/>
            </a:avLst>
          </a:prstGeom>
          <a:solidFill>
            <a:srgbClr val="171B2C"/>
          </a:solidFill>
          <a:ln w="9525">
            <a:solidFill>
              <a:srgbClr val="A08B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5193792"/>
            <a:ext cx="3566160" cy="1005840"/>
          </a:xfrm>
          <a:prstGeom prst="rect">
            <a:avLst/>
          </a:prstGeom>
          <a:noFill/>
        </p:spPr>
        <p:txBody>
          <a:bodyPr wrap="square" lIns="18288" rIns="18288" tIns="18288" bIns="18288" anchor="t">
            <a:spAutoFit/>
          </a:bodyPr>
          <a:lstStyle/>
          <a:p>
            <a:pPr algn="l">
              <a:lnSpc>
                <a:spcPct val="115000"/>
              </a:lnSpc>
            </a:pPr>
            <a:r>
              <a:rPr sz="1250" b="0">
                <a:solidFill>
                  <a:srgbClr val="A08BFF"/>
                </a:solidFill>
                <a:latin typeface="Segoe UI Semibold"/>
              </a:rPr>
              <a:t>Example: </a:t>
            </a:r>
            <a:r>
              <a:rPr sz="1250" b="0">
                <a:solidFill>
                  <a:srgbClr val="EDF0FF"/>
                </a:solidFill>
                <a:latin typeface="Segoe UI"/>
              </a:rPr>
              <a:t>Pair an Innovation power user with Rapid labs, then watch their pulse rise next week.</a:t>
            </a:r>
          </a:p>
        </p:txBody>
      </p:sp>
      <p:sp>
        <p:nvSpPr>
          <p:cNvPr id="13" name="TextBox 12"/>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Live snapshot from the AI Control Plane, 31 Oct 2026, last 30 days. Team memberships are demo assignments; cost is an estimate.</a:t>
            </a:r>
          </a:p>
        </p:txBody>
      </p:sp>
      <p:sp>
        <p:nvSpPr>
          <p:cNvPr id="14" name="TextBox 13"/>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09</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Catalog: return on our agent investment</a:t>
            </a:r>
          </a:p>
        </p:txBody>
      </p:sp>
      <p:sp>
        <p:nvSpPr>
          <p:cNvPr id="7" name="TextBox 6"/>
          <p:cNvSpPr txBox="1"/>
          <p:nvPr/>
        </p:nvSpPr>
        <p:spPr>
          <a:xfrm>
            <a:off x="548640" y="1298448"/>
            <a:ext cx="11064240" cy="54864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Every DevJourney agent, grouped into families, with the calls, tokens and people behind it.</a:t>
            </a:r>
          </a:p>
        </p:txBody>
      </p:sp>
      <p:sp>
        <p:nvSpPr>
          <p:cNvPr id="8" name="Rounded Rectangle 7"/>
          <p:cNvSpPr/>
          <p:nvPr/>
        </p:nvSpPr>
        <p:spPr>
          <a:xfrm>
            <a:off x="493776" y="1911095"/>
            <a:ext cx="7013448" cy="4426599"/>
          </a:xfrm>
          <a:prstGeom prst="roundRect">
            <a:avLst>
              <a:gd name="adj" fmla="val 3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4-catalog.jpg"/>
          <p:cNvPicPr>
            <a:picLocks noChangeAspect="1"/>
          </p:cNvPicPr>
          <p:nvPr/>
        </p:nvPicPr>
        <p:blipFill>
          <a:blip r:embed="rId2"/>
          <a:stretch>
            <a:fillRect/>
          </a:stretch>
        </p:blipFill>
        <p:spPr>
          <a:xfrm>
            <a:off x="548640" y="1965960"/>
            <a:ext cx="6903720" cy="4316871"/>
          </a:xfrm>
          <a:prstGeom prst="rect">
            <a:avLst/>
          </a:prstGeom>
        </p:spPr>
      </p:pic>
      <p:sp>
        <p:nvSpPr>
          <p:cNvPr id="10" name="TextBox 9"/>
          <p:cNvSpPr txBox="1"/>
          <p:nvPr/>
        </p:nvSpPr>
        <p:spPr>
          <a:xfrm>
            <a:off x="7818120" y="1965960"/>
            <a:ext cx="3840480" cy="457200"/>
          </a:xfrm>
          <a:prstGeom prst="rect">
            <a:avLst/>
          </a:prstGeom>
          <a:noFill/>
        </p:spPr>
        <p:txBody>
          <a:bodyPr wrap="square" lIns="18288" rIns="18288" tIns="18288" bIns="18288" anchor="t">
            <a:spAutoFit/>
          </a:bodyPr>
          <a:lstStyle/>
          <a:p>
            <a:pPr algn="l">
              <a:lnSpc>
                <a:spcPct val="125000"/>
              </a:lnSpc>
              <a:spcAft>
                <a:spcPts val="576"/>
              </a:spcAft>
            </a:pPr>
            <a:r>
              <a:rPr sz="1000" b="0">
                <a:solidFill>
                  <a:srgbClr val="38E2C8"/>
                </a:solidFill>
                <a:latin typeface="Segoe UI"/>
              </a:rPr>
              <a:t>●  </a:t>
            </a:r>
            <a:r>
              <a:rPr sz="1400" b="1">
                <a:solidFill>
                  <a:srgbClr val="EDF0FF"/>
                </a:solidFill>
                <a:latin typeface="Segoe UI Semibold"/>
              </a:rPr>
              <a:t>Modernisation (B-MOD)</a:t>
            </a:r>
            <a:r>
              <a:rPr sz="1400" b="0">
                <a:solidFill>
                  <a:srgbClr val="9BA1C4"/>
                </a:solidFill>
                <a:latin typeface="Segoe UI"/>
              </a:rPr>
              <a:t>: 19 of 23 agents used, ≈360 calls</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Development journey (A-DEV)</a:t>
            </a:r>
            <a:r>
              <a:rPr sz="1400" b="0">
                <a:solidFill>
                  <a:srgbClr val="9BA1C4"/>
                </a:solidFill>
                <a:latin typeface="Segoe UI"/>
              </a:rPr>
              <a:t>: 14 of 16 used</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Assurance &amp; testing (A-ASR)</a:t>
            </a:r>
            <a:r>
              <a:rPr sz="1400" b="0">
                <a:solidFill>
                  <a:srgbClr val="9BA1C4"/>
                </a:solidFill>
                <a:latin typeface="Segoe UI"/>
              </a:rPr>
              <a:t>: 4 of 5 used</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Software Engineer (A6.2)</a:t>
            </a:r>
            <a:r>
              <a:rPr sz="1400" b="0">
                <a:solidFill>
                  <a:srgbClr val="9BA1C4"/>
                </a:solidFill>
                <a:latin typeface="Segoe UI"/>
              </a:rPr>
              <a:t>: among the busiest agents</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5 agents outside the catalogue</a:t>
            </a:r>
            <a:r>
              <a:rPr sz="1400" b="0">
                <a:solidFill>
                  <a:srgbClr val="9BA1C4"/>
                </a:solidFill>
                <a:latin typeface="Segoe UI"/>
              </a:rPr>
              <a:t> are in use: unregistered tools</a:t>
            </a:r>
          </a:p>
        </p:txBody>
      </p:sp>
      <p:sp>
        <p:nvSpPr>
          <p:cNvPr id="11" name="Rounded Rectangle 10"/>
          <p:cNvSpPr/>
          <p:nvPr/>
        </p:nvSpPr>
        <p:spPr>
          <a:xfrm>
            <a:off x="7726679" y="5074920"/>
            <a:ext cx="3931920" cy="1188720"/>
          </a:xfrm>
          <a:prstGeom prst="roundRect">
            <a:avLst>
              <a:gd name="adj" fmla="val 10000"/>
            </a:avLst>
          </a:prstGeom>
          <a:solidFill>
            <a:srgbClr val="171B2C"/>
          </a:solidFill>
          <a:ln w="9525">
            <a:solidFill>
              <a:srgbClr val="FF8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5193792"/>
            <a:ext cx="3566160" cy="1005840"/>
          </a:xfrm>
          <a:prstGeom prst="rect">
            <a:avLst/>
          </a:prstGeom>
          <a:noFill/>
        </p:spPr>
        <p:txBody>
          <a:bodyPr wrap="square" lIns="18288" rIns="18288" tIns="18288" bIns="18288" anchor="t">
            <a:spAutoFit/>
          </a:bodyPr>
          <a:lstStyle/>
          <a:p>
            <a:pPr algn="l">
              <a:lnSpc>
                <a:spcPct val="115000"/>
              </a:lnSpc>
            </a:pPr>
            <a:r>
              <a:rPr sz="1250" b="0">
                <a:solidFill>
                  <a:srgbClr val="FF8F5E"/>
                </a:solidFill>
                <a:latin typeface="Segoe UI Semibold"/>
              </a:rPr>
              <a:t>Example: </a:t>
            </a:r>
            <a:r>
              <a:rPr sz="1250" b="0">
                <a:solidFill>
                  <a:srgbClr val="EDF0FF"/>
                </a:solidFill>
                <a:latin typeface="Segoe UI"/>
              </a:rPr>
              <a:t>Demand is in Modernisation: fund the next agents there first.</a:t>
            </a:r>
          </a:p>
        </p:txBody>
      </p:sp>
      <p:sp>
        <p:nvSpPr>
          <p:cNvPr id="13" name="TextBox 12"/>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Live snapshot from the AI Control Plane, 31 Oct 2026, last 30 days. Team memberships are demo assignments; cost is an estimate.</a:t>
            </a:r>
          </a:p>
        </p:txBody>
      </p:sp>
      <p:sp>
        <p:nvSpPr>
          <p:cNvPr id="14" name="TextBox 13"/>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10</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Models: cost and performance</a:t>
            </a:r>
          </a:p>
        </p:txBody>
      </p:sp>
      <p:sp>
        <p:nvSpPr>
          <p:cNvPr id="7" name="TextBox 6"/>
          <p:cNvSpPr txBox="1"/>
          <p:nvPr/>
        </p:nvSpPr>
        <p:spPr>
          <a:xfrm>
            <a:off x="548640" y="1298448"/>
            <a:ext cx="11064240" cy="54864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Token mix, average tokens per call and latency for every model in use.</a:t>
            </a:r>
          </a:p>
        </p:txBody>
      </p:sp>
      <p:sp>
        <p:nvSpPr>
          <p:cNvPr id="8" name="Rounded Rectangle 7"/>
          <p:cNvSpPr/>
          <p:nvPr/>
        </p:nvSpPr>
        <p:spPr>
          <a:xfrm>
            <a:off x="493776" y="1911095"/>
            <a:ext cx="7013448" cy="4426599"/>
          </a:xfrm>
          <a:prstGeom prst="roundRect">
            <a:avLst>
              <a:gd name="adj" fmla="val 3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5-models.jpg"/>
          <p:cNvPicPr>
            <a:picLocks noChangeAspect="1"/>
          </p:cNvPicPr>
          <p:nvPr/>
        </p:nvPicPr>
        <p:blipFill>
          <a:blip r:embed="rId2"/>
          <a:stretch>
            <a:fillRect/>
          </a:stretch>
        </p:blipFill>
        <p:spPr>
          <a:xfrm>
            <a:off x="548640" y="1965960"/>
            <a:ext cx="6903720" cy="4316871"/>
          </a:xfrm>
          <a:prstGeom prst="rect">
            <a:avLst/>
          </a:prstGeom>
        </p:spPr>
      </p:pic>
      <p:sp>
        <p:nvSpPr>
          <p:cNvPr id="10" name="TextBox 9"/>
          <p:cNvSpPr txBox="1"/>
          <p:nvPr/>
        </p:nvSpPr>
        <p:spPr>
          <a:xfrm>
            <a:off x="7818120" y="1965960"/>
            <a:ext cx="3840480" cy="457200"/>
          </a:xfrm>
          <a:prstGeom prst="rect">
            <a:avLst/>
          </a:prstGeom>
          <a:noFill/>
        </p:spPr>
        <p:txBody>
          <a:bodyPr wrap="square" lIns="18288" rIns="18288" tIns="18288" bIns="18288" anchor="t">
            <a:spAutoFit/>
          </a:bodyPr>
          <a:lstStyle/>
          <a:p>
            <a:pPr algn="l">
              <a:lnSpc>
                <a:spcPct val="125000"/>
              </a:lnSpc>
              <a:spcAft>
                <a:spcPts val="576"/>
              </a:spcAft>
            </a:pPr>
            <a:r>
              <a:rPr sz="1000" b="0">
                <a:solidFill>
                  <a:srgbClr val="38E2C8"/>
                </a:solidFill>
                <a:latin typeface="Segoe UI"/>
              </a:rPr>
              <a:t>●  </a:t>
            </a:r>
            <a:r>
              <a:rPr sz="1400" b="1">
                <a:solidFill>
                  <a:srgbClr val="EDF0FF"/>
                </a:solidFill>
                <a:latin typeface="Segoe UI Semibold"/>
              </a:rPr>
              <a:t>Token share</a:t>
            </a:r>
            <a:r>
              <a:rPr sz="1400" b="0">
                <a:solidFill>
                  <a:srgbClr val="9BA1C4"/>
                </a:solidFill>
                <a:latin typeface="Segoe UI"/>
              </a:rPr>
              <a:t> per model at a glance</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≈28,000 tokens per call</a:t>
            </a:r>
            <a:r>
              <a:rPr sz="1400" b="0">
                <a:solidFill>
                  <a:srgbClr val="9BA1C4"/>
                </a:solidFill>
                <a:latin typeface="Segoe UI"/>
              </a:rPr>
              <a:t> on the heaviest models</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≈3,500 per call</a:t>
            </a:r>
            <a:r>
              <a:rPr sz="1400" b="0">
                <a:solidFill>
                  <a:srgbClr val="9BA1C4"/>
                </a:solidFill>
                <a:latin typeface="Segoe UI"/>
              </a:rPr>
              <a:t> on GPT-4o mini</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8× more context</a:t>
            </a:r>
            <a:r>
              <a:rPr sz="1400" b="0">
                <a:solidFill>
                  <a:srgbClr val="9BA1C4"/>
                </a:solidFill>
                <a:latin typeface="Segoe UI"/>
              </a:rPr>
              <a:t> drives cost and wait time</a:t>
            </a:r>
          </a:p>
          <a:p>
            <a:pPr algn="l">
              <a:lnSpc>
                <a:spcPct val="125000"/>
              </a:lnSpc>
              <a:spcAft>
                <a:spcPts val="576"/>
              </a:spcAft>
            </a:pPr>
            <a:r>
              <a:rPr sz="1000" b="0">
                <a:solidFill>
                  <a:srgbClr val="38E2C8"/>
                </a:solidFill>
                <a:latin typeface="Segoe UI"/>
              </a:rPr>
              <a:t>●  </a:t>
            </a:r>
            <a:r>
              <a:rPr sz="1400" b="1">
                <a:solidFill>
                  <a:srgbClr val="EDF0FF"/>
                </a:solidFill>
                <a:latin typeface="Segoe UI Semibold"/>
              </a:rPr>
              <a:t>Cost is an estimate</a:t>
            </a:r>
            <a:r>
              <a:rPr sz="1400" b="0">
                <a:solidFill>
                  <a:srgbClr val="9BA1C4"/>
                </a:solidFill>
                <a:latin typeface="Segoe UI"/>
              </a:rPr>
              <a:t> for comparing models, not an invoice</a:t>
            </a:r>
          </a:p>
        </p:txBody>
      </p:sp>
      <p:sp>
        <p:nvSpPr>
          <p:cNvPr id="11" name="Rounded Rectangle 10"/>
          <p:cNvSpPr/>
          <p:nvPr/>
        </p:nvSpPr>
        <p:spPr>
          <a:xfrm>
            <a:off x="7726679" y="5074920"/>
            <a:ext cx="3931920" cy="1188720"/>
          </a:xfrm>
          <a:prstGeom prst="roundRect">
            <a:avLst>
              <a:gd name="adj" fmla="val 10000"/>
            </a:avLst>
          </a:prstGeom>
          <a:solidFill>
            <a:srgbClr val="171B2C"/>
          </a:solidFill>
          <a:ln w="9525">
            <a:solidFill>
              <a:srgbClr val="FF6F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79" y="5193792"/>
            <a:ext cx="3566160" cy="1005840"/>
          </a:xfrm>
          <a:prstGeom prst="rect">
            <a:avLst/>
          </a:prstGeom>
          <a:noFill/>
        </p:spPr>
        <p:txBody>
          <a:bodyPr wrap="square" lIns="18288" rIns="18288" tIns="18288" bIns="18288" anchor="t">
            <a:spAutoFit/>
          </a:bodyPr>
          <a:lstStyle/>
          <a:p>
            <a:pPr algn="l">
              <a:lnSpc>
                <a:spcPct val="115000"/>
              </a:lnSpc>
            </a:pPr>
            <a:r>
              <a:rPr sz="1250" b="0">
                <a:solidFill>
                  <a:srgbClr val="FF6FA5"/>
                </a:solidFill>
                <a:latin typeface="Segoe UI Semibold"/>
              </a:rPr>
              <a:t>Example: </a:t>
            </a:r>
            <a:r>
              <a:rPr sz="1250" b="0">
                <a:solidFill>
                  <a:srgbClr val="EDF0FF"/>
                </a:solidFill>
                <a:latin typeface="Segoe UI"/>
              </a:rPr>
              <a:t>Route routine work to lighter models; keep premium models for complex tasks.</a:t>
            </a:r>
          </a:p>
        </p:txBody>
      </p:sp>
      <p:sp>
        <p:nvSpPr>
          <p:cNvPr id="13" name="TextBox 12"/>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Live snapshot from the AI Control Plane, 31 Oct 2026, last 30 days. Team memberships are demo assignments; cost is an estimate.</a:t>
            </a:r>
          </a:p>
        </p:txBody>
      </p:sp>
      <p:sp>
        <p:nvSpPr>
          <p:cNvPr id="14" name="TextBox 13"/>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11</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Activity: when and how the work flows</a:t>
            </a:r>
          </a:p>
        </p:txBody>
      </p:sp>
      <p:sp>
        <p:nvSpPr>
          <p:cNvPr id="7" name="TextBox 6"/>
          <p:cNvSpPr txBox="1"/>
          <p:nvPr/>
        </p:nvSpPr>
        <p:spPr>
          <a:xfrm>
            <a:off x="548640" y="1298448"/>
            <a:ext cx="11064240" cy="54864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A weekday × hour heat field and a live signal network from teams to people, agents and models.</a:t>
            </a:r>
          </a:p>
        </p:txBody>
      </p:sp>
      <p:sp>
        <p:nvSpPr>
          <p:cNvPr id="8" name="Rounded Rectangle 7"/>
          <p:cNvSpPr/>
          <p:nvPr/>
        </p:nvSpPr>
        <p:spPr>
          <a:xfrm>
            <a:off x="493776" y="1911095"/>
            <a:ext cx="5596128" cy="3540354"/>
          </a:xfrm>
          <a:prstGeom prst="roundRect">
            <a:avLst>
              <a:gd name="adj" fmla="val 3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7-activity.jpg"/>
          <p:cNvPicPr>
            <a:picLocks noChangeAspect="1"/>
          </p:cNvPicPr>
          <p:nvPr/>
        </p:nvPicPr>
        <p:blipFill>
          <a:blip r:embed="rId2"/>
          <a:stretch>
            <a:fillRect/>
          </a:stretch>
        </p:blipFill>
        <p:spPr>
          <a:xfrm>
            <a:off x="548640" y="1965960"/>
            <a:ext cx="5486400" cy="3430626"/>
          </a:xfrm>
          <a:prstGeom prst="rect">
            <a:avLst/>
          </a:prstGeom>
        </p:spPr>
      </p:pic>
      <p:sp>
        <p:nvSpPr>
          <p:cNvPr id="10" name="Rounded Rectangle 9"/>
          <p:cNvSpPr/>
          <p:nvPr/>
        </p:nvSpPr>
        <p:spPr>
          <a:xfrm>
            <a:off x="6117336" y="1911095"/>
            <a:ext cx="5596128" cy="3540354"/>
          </a:xfrm>
          <a:prstGeom prst="roundRect">
            <a:avLst>
              <a:gd name="adj" fmla="val 3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6-network.jpg"/>
          <p:cNvPicPr>
            <a:picLocks noChangeAspect="1"/>
          </p:cNvPicPr>
          <p:nvPr/>
        </p:nvPicPr>
        <p:blipFill>
          <a:blip r:embed="rId3"/>
          <a:stretch>
            <a:fillRect/>
          </a:stretch>
        </p:blipFill>
        <p:spPr>
          <a:xfrm>
            <a:off x="6172200" y="1965960"/>
            <a:ext cx="5486400" cy="3430626"/>
          </a:xfrm>
          <a:prstGeom prst="rect">
            <a:avLst/>
          </a:prstGeom>
        </p:spPr>
      </p:pic>
      <p:sp>
        <p:nvSpPr>
          <p:cNvPr id="12" name="TextBox 11"/>
          <p:cNvSpPr txBox="1"/>
          <p:nvPr/>
        </p:nvSpPr>
        <p:spPr>
          <a:xfrm>
            <a:off x="548640" y="5532120"/>
            <a:ext cx="5486400" cy="457200"/>
          </a:xfrm>
          <a:prstGeom prst="rect">
            <a:avLst/>
          </a:prstGeom>
          <a:noFill/>
        </p:spPr>
        <p:txBody>
          <a:bodyPr wrap="square" lIns="18288" rIns="18288" tIns="18288" bIns="18288" anchor="t">
            <a:spAutoFit/>
          </a:bodyPr>
          <a:lstStyle/>
          <a:p>
            <a:pPr algn="l">
              <a:lnSpc>
                <a:spcPct val="125000"/>
              </a:lnSpc>
              <a:spcAft>
                <a:spcPts val="576"/>
              </a:spcAft>
            </a:pPr>
            <a:r>
              <a:rPr sz="900" b="0">
                <a:solidFill>
                  <a:srgbClr val="38E2C8"/>
                </a:solidFill>
                <a:latin typeface="Segoe UI"/>
              </a:rPr>
              <a:t>●  </a:t>
            </a:r>
            <a:r>
              <a:rPr sz="1300" b="1">
                <a:solidFill>
                  <a:srgbClr val="EDF0FF"/>
                </a:solidFill>
                <a:latin typeface="Segoe UI Semibold"/>
              </a:rPr>
              <a:t>Busiest hour: </a:t>
            </a:r>
            <a:r>
              <a:rPr sz="1300" b="0">
                <a:solidFill>
                  <a:srgbClr val="9BA1C4"/>
                </a:solidFill>
                <a:latin typeface="Segoe UI"/>
              </a:rPr>
              <a:t>Sunday 10:00–11:00, a sign of deadline crunches</a:t>
            </a:r>
          </a:p>
        </p:txBody>
      </p:sp>
      <p:sp>
        <p:nvSpPr>
          <p:cNvPr id="13" name="TextBox 12"/>
          <p:cNvSpPr txBox="1"/>
          <p:nvPr/>
        </p:nvSpPr>
        <p:spPr>
          <a:xfrm>
            <a:off x="6172200" y="5532120"/>
            <a:ext cx="5486400" cy="457200"/>
          </a:xfrm>
          <a:prstGeom prst="rect">
            <a:avLst/>
          </a:prstGeom>
          <a:noFill/>
        </p:spPr>
        <p:txBody>
          <a:bodyPr wrap="square" lIns="18288" rIns="18288" tIns="18288" bIns="18288" anchor="t">
            <a:spAutoFit/>
          </a:bodyPr>
          <a:lstStyle/>
          <a:p>
            <a:pPr algn="l">
              <a:lnSpc>
                <a:spcPct val="125000"/>
              </a:lnSpc>
              <a:spcAft>
                <a:spcPts val="576"/>
              </a:spcAft>
            </a:pPr>
            <a:r>
              <a:rPr sz="900" b="0">
                <a:solidFill>
                  <a:srgbClr val="38E2C8"/>
                </a:solidFill>
                <a:latin typeface="Segoe UI"/>
              </a:rPr>
              <a:t>●  </a:t>
            </a:r>
            <a:r>
              <a:rPr sz="1300" b="1">
                <a:solidFill>
                  <a:srgbClr val="EDF0FF"/>
                </a:solidFill>
                <a:latin typeface="Segoe UI Semibold"/>
              </a:rPr>
              <a:t>Hover a person: </a:t>
            </a:r>
            <a:r>
              <a:rPr sz="1300" b="0">
                <a:solidFill>
                  <a:srgbClr val="9BA1C4"/>
                </a:solidFill>
                <a:latin typeface="Segoe UI"/>
              </a:rPr>
              <a:t>trace their path, e.g. Data → rajasekar1809 → agents → models</a:t>
            </a:r>
          </a:p>
        </p:txBody>
      </p:sp>
      <p:sp>
        <p:nvSpPr>
          <p:cNvPr id="14" name="TextBox 13"/>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Live snapshot from the AI Control Plane, 31 Oct 2026, last 30 days. Team memberships are demo assignments; cost is an estimate.</a:t>
            </a:r>
          </a:p>
        </p:txBody>
      </p:sp>
      <p:sp>
        <p:nvSpPr>
          <p:cNvPr id="15" name="TextBox 14"/>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12</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What makes it different</a:t>
            </a:r>
          </a:p>
        </p:txBody>
      </p:sp>
      <p:sp>
        <p:nvSpPr>
          <p:cNvPr id="7" name="Rounded Rectangle 6"/>
          <p:cNvSpPr/>
          <p:nvPr/>
        </p:nvSpPr>
        <p:spPr>
          <a:xfrm>
            <a:off x="548640" y="1463040"/>
            <a:ext cx="5440680" cy="1069848"/>
          </a:xfrm>
          <a:prstGeom prst="roundRect">
            <a:avLst>
              <a:gd name="adj" fmla="val 12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59" y="1719072"/>
            <a:ext cx="182880" cy="182880"/>
          </a:xfrm>
          <a:prstGeom prst="ellipse">
            <a:avLst/>
          </a:prstGeom>
          <a:solidFill>
            <a:srgbClr val="95E3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19" y="1609344"/>
            <a:ext cx="4572000" cy="365760"/>
          </a:xfrm>
          <a:prstGeom prst="rect">
            <a:avLst/>
          </a:prstGeom>
          <a:noFill/>
        </p:spPr>
        <p:txBody>
          <a:bodyPr wrap="square" lIns="18288" rIns="18288" tIns="18288" bIns="18288" anchor="t">
            <a:spAutoFit/>
          </a:bodyPr>
          <a:lstStyle/>
          <a:p>
            <a:pPr algn="l">
              <a:lnSpc>
                <a:spcPct val="115000"/>
              </a:lnSpc>
            </a:pPr>
            <a:r>
              <a:rPr sz="1600" b="0">
                <a:solidFill>
                  <a:srgbClr val="95E36F"/>
                </a:solidFill>
                <a:latin typeface="Segoe UI Semibold"/>
              </a:rPr>
              <a:t>Built around your agents</a:t>
            </a:r>
          </a:p>
        </p:txBody>
      </p:sp>
      <p:sp>
        <p:nvSpPr>
          <p:cNvPr id="10" name="TextBox 9"/>
          <p:cNvSpPr txBox="1"/>
          <p:nvPr/>
        </p:nvSpPr>
        <p:spPr>
          <a:xfrm>
            <a:off x="1188719" y="1965960"/>
            <a:ext cx="4572000" cy="548640"/>
          </a:xfrm>
          <a:prstGeom prst="rect">
            <a:avLst/>
          </a:prstGeom>
          <a:noFill/>
        </p:spPr>
        <p:txBody>
          <a:bodyPr wrap="square" lIns="18288" rIns="18288" tIns="18288" bIns="18288" anchor="t">
            <a:spAutoFit/>
          </a:bodyPr>
          <a:lstStyle/>
          <a:p>
            <a:pPr algn="l">
              <a:lnSpc>
                <a:spcPct val="115000"/>
              </a:lnSpc>
            </a:pPr>
            <a:r>
              <a:rPr sz="1250" b="0">
                <a:solidFill>
                  <a:srgbClr val="EDF0FF"/>
                </a:solidFill>
                <a:latin typeface="Segoe UI"/>
              </a:rPr>
              <a:t>Usage matched to the AgentVerse catalogue: coverage like 53 of 63, not just "agent mode was used".</a:t>
            </a:r>
          </a:p>
        </p:txBody>
      </p:sp>
      <p:sp>
        <p:nvSpPr>
          <p:cNvPr id="11" name="Rounded Rectangle 10"/>
          <p:cNvSpPr/>
          <p:nvPr/>
        </p:nvSpPr>
        <p:spPr>
          <a:xfrm>
            <a:off x="6172200" y="1463040"/>
            <a:ext cx="5440680" cy="1069848"/>
          </a:xfrm>
          <a:prstGeom prst="roundRect">
            <a:avLst>
              <a:gd name="adj" fmla="val 12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1719072"/>
            <a:ext cx="182880" cy="182880"/>
          </a:xfrm>
          <a:prstGeom prst="ellipse">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1609344"/>
            <a:ext cx="4572000" cy="365760"/>
          </a:xfrm>
          <a:prstGeom prst="rect">
            <a:avLst/>
          </a:prstGeom>
          <a:noFill/>
        </p:spPr>
        <p:txBody>
          <a:bodyPr wrap="square" lIns="18288" rIns="18288" tIns="18288" bIns="18288" anchor="t">
            <a:spAutoFit/>
          </a:bodyPr>
          <a:lstStyle/>
          <a:p>
            <a:pPr algn="l">
              <a:lnSpc>
                <a:spcPct val="115000"/>
              </a:lnSpc>
            </a:pPr>
            <a:r>
              <a:rPr sz="1600" b="0">
                <a:solidFill>
                  <a:srgbClr val="A08BFF"/>
                </a:solidFill>
                <a:latin typeface="Segoe UI Semibold"/>
              </a:rPr>
              <a:t>Built around your organization</a:t>
            </a:r>
          </a:p>
        </p:txBody>
      </p:sp>
      <p:sp>
        <p:nvSpPr>
          <p:cNvPr id="14" name="TextBox 13"/>
          <p:cNvSpPr txBox="1"/>
          <p:nvPr/>
        </p:nvSpPr>
        <p:spPr>
          <a:xfrm>
            <a:off x="6812280" y="1965960"/>
            <a:ext cx="4572000" cy="548640"/>
          </a:xfrm>
          <a:prstGeom prst="rect">
            <a:avLst/>
          </a:prstGeom>
          <a:noFill/>
        </p:spPr>
        <p:txBody>
          <a:bodyPr wrap="square" lIns="18288" rIns="18288" tIns="18288" bIns="18288" anchor="t">
            <a:spAutoFit/>
          </a:bodyPr>
          <a:lstStyle/>
          <a:p>
            <a:pPr algn="l">
              <a:lnSpc>
                <a:spcPct val="115000"/>
              </a:lnSpc>
            </a:pPr>
            <a:r>
              <a:rPr sz="1250" b="0">
                <a:solidFill>
                  <a:srgbClr val="EDF0FF"/>
                </a:solidFill>
                <a:latin typeface="Segoe UI"/>
              </a:rPr>
              <a:t>Organization → team → person, with one-click focus and team exports.</a:t>
            </a:r>
          </a:p>
        </p:txBody>
      </p:sp>
      <p:sp>
        <p:nvSpPr>
          <p:cNvPr id="15" name="Rounded Rectangle 14"/>
          <p:cNvSpPr/>
          <p:nvPr/>
        </p:nvSpPr>
        <p:spPr>
          <a:xfrm>
            <a:off x="548640" y="2679192"/>
            <a:ext cx="5440680" cy="1069848"/>
          </a:xfrm>
          <a:prstGeom prst="roundRect">
            <a:avLst>
              <a:gd name="adj" fmla="val 12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59" y="2935224"/>
            <a:ext cx="182880" cy="182880"/>
          </a:xfrm>
          <a:prstGeom prst="ellipse">
            <a:avLst/>
          </a:prstGeom>
          <a:solidFill>
            <a:srgbClr val="38E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19" y="2825496"/>
            <a:ext cx="4572000" cy="365760"/>
          </a:xfrm>
          <a:prstGeom prst="rect">
            <a:avLst/>
          </a:prstGeom>
          <a:noFill/>
        </p:spPr>
        <p:txBody>
          <a:bodyPr wrap="square" lIns="18288" rIns="18288" tIns="18288" bIns="18288" anchor="t">
            <a:spAutoFit/>
          </a:bodyPr>
          <a:lstStyle/>
          <a:p>
            <a:pPr algn="l">
              <a:lnSpc>
                <a:spcPct val="115000"/>
              </a:lnSpc>
            </a:pPr>
            <a:r>
              <a:rPr sz="1600" b="0">
                <a:solidFill>
                  <a:srgbClr val="38E2C8"/>
                </a:solidFill>
                <a:latin typeface="Segoe UI Semibold"/>
              </a:rPr>
              <a:t>Live, not days late</a:t>
            </a:r>
          </a:p>
        </p:txBody>
      </p:sp>
      <p:sp>
        <p:nvSpPr>
          <p:cNvPr id="18" name="TextBox 17"/>
          <p:cNvSpPr txBox="1"/>
          <p:nvPr/>
        </p:nvSpPr>
        <p:spPr>
          <a:xfrm>
            <a:off x="1188719" y="3182112"/>
            <a:ext cx="4572000" cy="548640"/>
          </a:xfrm>
          <a:prstGeom prst="rect">
            <a:avLst/>
          </a:prstGeom>
          <a:noFill/>
        </p:spPr>
        <p:txBody>
          <a:bodyPr wrap="square" lIns="18288" rIns="18288" tIns="18288" bIns="18288" anchor="t">
            <a:spAutoFit/>
          </a:bodyPr>
          <a:lstStyle/>
          <a:p>
            <a:pPr algn="l">
              <a:lnSpc>
                <a:spcPct val="115000"/>
              </a:lnSpc>
            </a:pPr>
            <a:r>
              <a:rPr sz="1250" b="0">
                <a:solidFill>
                  <a:srgbClr val="EDF0FF"/>
                </a:solidFill>
                <a:latin typeface="Segoe UI"/>
              </a:rPr>
              <a:t>Calls appear within about 30 seconds instead of daily reports 1–3 days behind.</a:t>
            </a:r>
          </a:p>
        </p:txBody>
      </p:sp>
      <p:sp>
        <p:nvSpPr>
          <p:cNvPr id="19" name="Rounded Rectangle 18"/>
          <p:cNvSpPr/>
          <p:nvPr/>
        </p:nvSpPr>
        <p:spPr>
          <a:xfrm>
            <a:off x="6172200" y="2679192"/>
            <a:ext cx="5440680" cy="1069848"/>
          </a:xfrm>
          <a:prstGeom prst="roundRect">
            <a:avLst>
              <a:gd name="adj" fmla="val 12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2935224"/>
            <a:ext cx="182880" cy="182880"/>
          </a:xfrm>
          <a:prstGeom prst="ellipse">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2825496"/>
            <a:ext cx="4572000" cy="365760"/>
          </a:xfrm>
          <a:prstGeom prst="rect">
            <a:avLst/>
          </a:prstGeom>
          <a:noFill/>
        </p:spPr>
        <p:txBody>
          <a:bodyPr wrap="square" lIns="18288" rIns="18288" tIns="18288" bIns="18288" anchor="t">
            <a:spAutoFit/>
          </a:bodyPr>
          <a:lstStyle/>
          <a:p>
            <a:pPr algn="l">
              <a:lnSpc>
                <a:spcPct val="115000"/>
              </a:lnSpc>
            </a:pPr>
            <a:r>
              <a:rPr sz="1600" b="0">
                <a:solidFill>
                  <a:srgbClr val="FF8F5E"/>
                </a:solidFill>
                <a:latin typeface="Segoe UI Semibold"/>
              </a:rPr>
              <a:t>Detail on every call</a:t>
            </a:r>
          </a:p>
        </p:txBody>
      </p:sp>
      <p:sp>
        <p:nvSpPr>
          <p:cNvPr id="22" name="TextBox 21"/>
          <p:cNvSpPr txBox="1"/>
          <p:nvPr/>
        </p:nvSpPr>
        <p:spPr>
          <a:xfrm>
            <a:off x="6812280" y="3182112"/>
            <a:ext cx="4572000" cy="548640"/>
          </a:xfrm>
          <a:prstGeom prst="rect">
            <a:avLst/>
          </a:prstGeom>
          <a:noFill/>
        </p:spPr>
        <p:txBody>
          <a:bodyPr wrap="square" lIns="18288" rIns="18288" tIns="18288" bIns="18288" anchor="t">
            <a:spAutoFit/>
          </a:bodyPr>
          <a:lstStyle/>
          <a:p>
            <a:pPr algn="l">
              <a:lnSpc>
                <a:spcPct val="115000"/>
              </a:lnSpc>
            </a:pPr>
            <a:r>
              <a:rPr sz="1250" b="0">
                <a:solidFill>
                  <a:srgbClr val="EDF0FF"/>
                </a:solidFill>
                <a:latin typeface="Segoe UI"/>
              </a:rPr>
              <a:t>Tokens, latency and estimated cost per call, person, agent and model.</a:t>
            </a:r>
          </a:p>
        </p:txBody>
      </p:sp>
      <p:sp>
        <p:nvSpPr>
          <p:cNvPr id="23" name="Rounded Rectangle 22"/>
          <p:cNvSpPr/>
          <p:nvPr/>
        </p:nvSpPr>
        <p:spPr>
          <a:xfrm>
            <a:off x="548640" y="3895344"/>
            <a:ext cx="5440680" cy="1069848"/>
          </a:xfrm>
          <a:prstGeom prst="roundRect">
            <a:avLst>
              <a:gd name="adj" fmla="val 12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2959" y="4151376"/>
            <a:ext cx="182880" cy="182880"/>
          </a:xfrm>
          <a:prstGeom prst="ellipse">
            <a:avLst/>
          </a:prstGeom>
          <a:solidFill>
            <a:srgbClr val="FF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19" y="4041648"/>
            <a:ext cx="4572000" cy="365760"/>
          </a:xfrm>
          <a:prstGeom prst="rect">
            <a:avLst/>
          </a:prstGeom>
          <a:noFill/>
        </p:spPr>
        <p:txBody>
          <a:bodyPr wrap="square" lIns="18288" rIns="18288" tIns="18288" bIns="18288" anchor="t">
            <a:spAutoFit/>
          </a:bodyPr>
          <a:lstStyle/>
          <a:p>
            <a:pPr algn="l">
              <a:lnSpc>
                <a:spcPct val="115000"/>
              </a:lnSpc>
            </a:pPr>
            <a:r>
              <a:rPr sz="1600" b="0">
                <a:solidFill>
                  <a:srgbClr val="FF6FA5"/>
                </a:solidFill>
                <a:latin typeface="Segoe UI Semibold"/>
              </a:rPr>
              <a:t>Private</a:t>
            </a:r>
          </a:p>
        </p:txBody>
      </p:sp>
      <p:sp>
        <p:nvSpPr>
          <p:cNvPr id="26" name="TextBox 25"/>
          <p:cNvSpPr txBox="1"/>
          <p:nvPr/>
        </p:nvSpPr>
        <p:spPr>
          <a:xfrm>
            <a:off x="1188719" y="4398264"/>
            <a:ext cx="4572000" cy="548640"/>
          </a:xfrm>
          <a:prstGeom prst="rect">
            <a:avLst/>
          </a:prstGeom>
          <a:noFill/>
        </p:spPr>
        <p:txBody>
          <a:bodyPr wrap="square" lIns="18288" rIns="18288" tIns="18288" bIns="18288" anchor="t">
            <a:spAutoFit/>
          </a:bodyPr>
          <a:lstStyle/>
          <a:p>
            <a:pPr algn="l">
              <a:lnSpc>
                <a:spcPct val="115000"/>
              </a:lnSpc>
            </a:pPr>
            <a:r>
              <a:rPr sz="1250" b="0">
                <a:solidFill>
                  <a:srgbClr val="EDF0FF"/>
                </a:solidFill>
                <a:latin typeface="Segoe UI"/>
              </a:rPr>
              <a:t>No prompt or code content is collected, by policy.</a:t>
            </a:r>
          </a:p>
        </p:txBody>
      </p:sp>
      <p:sp>
        <p:nvSpPr>
          <p:cNvPr id="27" name="Rounded Rectangle 26"/>
          <p:cNvSpPr/>
          <p:nvPr/>
        </p:nvSpPr>
        <p:spPr>
          <a:xfrm>
            <a:off x="6172200" y="3895344"/>
            <a:ext cx="5440680" cy="1069848"/>
          </a:xfrm>
          <a:prstGeom prst="roundRect">
            <a:avLst>
              <a:gd name="adj" fmla="val 12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46520" y="4151376"/>
            <a:ext cx="182880" cy="182880"/>
          </a:xfrm>
          <a:prstGeom prst="ellipse">
            <a:avLst/>
          </a:prstGeom>
          <a:solidFill>
            <a:srgbClr val="FFC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12280" y="4041648"/>
            <a:ext cx="4572000" cy="365760"/>
          </a:xfrm>
          <a:prstGeom prst="rect">
            <a:avLst/>
          </a:prstGeom>
          <a:noFill/>
        </p:spPr>
        <p:txBody>
          <a:bodyPr wrap="square" lIns="18288" rIns="18288" tIns="18288" bIns="18288" anchor="t">
            <a:spAutoFit/>
          </a:bodyPr>
          <a:lstStyle/>
          <a:p>
            <a:pPr algn="l">
              <a:lnSpc>
                <a:spcPct val="115000"/>
              </a:lnSpc>
            </a:pPr>
            <a:r>
              <a:rPr sz="1600" b="0">
                <a:solidFill>
                  <a:srgbClr val="FFCC5C"/>
                </a:solidFill>
                <a:latin typeface="Segoe UI Semibold"/>
              </a:rPr>
              <a:t>Open standards</a:t>
            </a:r>
          </a:p>
        </p:txBody>
      </p:sp>
      <p:sp>
        <p:nvSpPr>
          <p:cNvPr id="30" name="TextBox 29"/>
          <p:cNvSpPr txBox="1"/>
          <p:nvPr/>
        </p:nvSpPr>
        <p:spPr>
          <a:xfrm>
            <a:off x="6812280" y="4398264"/>
            <a:ext cx="4572000" cy="548640"/>
          </a:xfrm>
          <a:prstGeom prst="rect">
            <a:avLst/>
          </a:prstGeom>
          <a:noFill/>
        </p:spPr>
        <p:txBody>
          <a:bodyPr wrap="square" lIns="18288" rIns="18288" tIns="18288" bIns="18288" anchor="t">
            <a:spAutoFit/>
          </a:bodyPr>
          <a:lstStyle/>
          <a:p>
            <a:pPr algn="l">
              <a:lnSpc>
                <a:spcPct val="115000"/>
              </a:lnSpc>
            </a:pPr>
            <a:r>
              <a:rPr sz="1250" b="0">
                <a:solidFill>
                  <a:srgbClr val="EDF0FF"/>
                </a:solidFill>
                <a:latin typeface="Segoe UI"/>
              </a:rPr>
              <a:t>OpenTelemetry: the same receiver serves Copilot and our own Python agents.</a:t>
            </a:r>
          </a:p>
        </p:txBody>
      </p:sp>
      <p:sp>
        <p:nvSpPr>
          <p:cNvPr id="31" name="Rounded Rectangle 30"/>
          <p:cNvSpPr/>
          <p:nvPr/>
        </p:nvSpPr>
        <p:spPr>
          <a:xfrm>
            <a:off x="548640" y="5111496"/>
            <a:ext cx="11064240" cy="1069848"/>
          </a:xfrm>
          <a:prstGeom prst="roundRect">
            <a:avLst>
              <a:gd name="adj" fmla="val 12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2959" y="5367528"/>
            <a:ext cx="182880" cy="182880"/>
          </a:xfrm>
          <a:prstGeom prst="ellipse">
            <a:avLst/>
          </a:prstGeom>
          <a:solidFill>
            <a:srgbClr val="9BA1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88719" y="5257800"/>
            <a:ext cx="10195560" cy="36576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Semibold"/>
              </a:rPr>
              <a:t>Works alongside GitHub</a:t>
            </a:r>
          </a:p>
        </p:txBody>
      </p:sp>
      <p:sp>
        <p:nvSpPr>
          <p:cNvPr id="34" name="TextBox 33"/>
          <p:cNvSpPr txBox="1"/>
          <p:nvPr/>
        </p:nvSpPr>
        <p:spPr>
          <a:xfrm>
            <a:off x="1188719" y="5614416"/>
            <a:ext cx="10195560" cy="548640"/>
          </a:xfrm>
          <a:prstGeom prst="rect">
            <a:avLst/>
          </a:prstGeom>
          <a:noFill/>
        </p:spPr>
        <p:txBody>
          <a:bodyPr wrap="square" lIns="18288" rIns="18288" tIns="18288" bIns="18288" anchor="t">
            <a:spAutoFit/>
          </a:bodyPr>
          <a:lstStyle/>
          <a:p>
            <a:pPr algn="l">
              <a:lnSpc>
                <a:spcPct val="115000"/>
              </a:lnSpc>
            </a:pPr>
            <a:r>
              <a:rPr sz="1250" b="0">
                <a:solidFill>
                  <a:srgbClr val="EDF0FF"/>
                </a:solidFill>
                <a:latin typeface="Segoe UI"/>
              </a:rPr>
              <a:t>GitHub's official metrics sit in the same app.</a:t>
            </a:r>
          </a:p>
        </p:txBody>
      </p:sp>
      <p:sp>
        <p:nvSpPr>
          <p:cNvPr id="35" name="TextBox 34"/>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
            </a:r>
          </a:p>
        </p:txBody>
      </p:sp>
      <p:sp>
        <p:nvSpPr>
          <p:cNvPr id="36" name="TextBox 35"/>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13</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Who uses it, and how</a:t>
            </a:r>
          </a:p>
        </p:txBody>
      </p:sp>
      <p:sp>
        <p:nvSpPr>
          <p:cNvPr id="7" name="Rounded Rectangle 6"/>
          <p:cNvSpPr/>
          <p:nvPr/>
        </p:nvSpPr>
        <p:spPr>
          <a:xfrm>
            <a:off x="548640" y="1508760"/>
            <a:ext cx="11064240" cy="786384"/>
          </a:xfrm>
          <a:prstGeom prst="roundRect">
            <a:avLst>
              <a:gd name="adj" fmla="val 16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810512"/>
            <a:ext cx="182880" cy="182880"/>
          </a:xfrm>
          <a:prstGeom prst="ellipse">
            <a:avLst/>
          </a:prstGeom>
          <a:solidFill>
            <a:srgbClr val="38E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1709928"/>
            <a:ext cx="3291840" cy="411480"/>
          </a:xfrm>
          <a:prstGeom prst="rect">
            <a:avLst/>
          </a:prstGeom>
          <a:noFill/>
        </p:spPr>
        <p:txBody>
          <a:bodyPr wrap="square" lIns="18288" rIns="18288" tIns="18288" bIns="18288" anchor="t">
            <a:spAutoFit/>
          </a:bodyPr>
          <a:lstStyle/>
          <a:p>
            <a:pPr algn="l">
              <a:lnSpc>
                <a:spcPct val="115000"/>
              </a:lnSpc>
            </a:pPr>
            <a:r>
              <a:rPr sz="1700" b="0">
                <a:solidFill>
                  <a:srgbClr val="38E2C8"/>
                </a:solidFill>
                <a:latin typeface="Segoe UI Semibold"/>
              </a:rPr>
              <a:t>CTO and leadership</a:t>
            </a:r>
          </a:p>
        </p:txBody>
      </p:sp>
      <p:sp>
        <p:nvSpPr>
          <p:cNvPr id="10" name="TextBox 9"/>
          <p:cNvSpPr txBox="1"/>
          <p:nvPr/>
        </p:nvSpPr>
        <p:spPr>
          <a:xfrm>
            <a:off x="4480560" y="1728216"/>
            <a:ext cx="6949440" cy="41148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a:rPr>
              <a:t>Monthly review of adoption, return on agents and model mix</a:t>
            </a:r>
          </a:p>
        </p:txBody>
      </p:sp>
      <p:sp>
        <p:nvSpPr>
          <p:cNvPr id="11" name="Rounded Rectangle 10"/>
          <p:cNvSpPr/>
          <p:nvPr/>
        </p:nvSpPr>
        <p:spPr>
          <a:xfrm>
            <a:off x="548640" y="2441448"/>
            <a:ext cx="11064240" cy="786384"/>
          </a:xfrm>
          <a:prstGeom prst="roundRect">
            <a:avLst>
              <a:gd name="adj" fmla="val 16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2743200"/>
            <a:ext cx="182880" cy="182880"/>
          </a:xfrm>
          <a:prstGeom prst="ellipse">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2642616"/>
            <a:ext cx="3291840" cy="411480"/>
          </a:xfrm>
          <a:prstGeom prst="rect">
            <a:avLst/>
          </a:prstGeom>
          <a:noFill/>
        </p:spPr>
        <p:txBody>
          <a:bodyPr wrap="square" lIns="18288" rIns="18288" tIns="18288" bIns="18288" anchor="t">
            <a:spAutoFit/>
          </a:bodyPr>
          <a:lstStyle/>
          <a:p>
            <a:pPr algn="l">
              <a:lnSpc>
                <a:spcPct val="115000"/>
              </a:lnSpc>
            </a:pPr>
            <a:r>
              <a:rPr sz="1700" b="0">
                <a:solidFill>
                  <a:srgbClr val="A08BFF"/>
                </a:solidFill>
                <a:latin typeface="Segoe UI Semibold"/>
              </a:rPr>
              <a:t>Engineering managers</a:t>
            </a:r>
          </a:p>
        </p:txBody>
      </p:sp>
      <p:sp>
        <p:nvSpPr>
          <p:cNvPr id="14" name="TextBox 13"/>
          <p:cNvSpPr txBox="1"/>
          <p:nvPr/>
        </p:nvSpPr>
        <p:spPr>
          <a:xfrm>
            <a:off x="4480560" y="2660904"/>
            <a:ext cx="6949440" cy="41148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a:rPr>
              <a:t>Team adoption, enablement, spotting who needs help</a:t>
            </a:r>
          </a:p>
        </p:txBody>
      </p:sp>
      <p:sp>
        <p:nvSpPr>
          <p:cNvPr id="15" name="Rounded Rectangle 14"/>
          <p:cNvSpPr/>
          <p:nvPr/>
        </p:nvSpPr>
        <p:spPr>
          <a:xfrm>
            <a:off x="548640" y="3374136"/>
            <a:ext cx="11064240" cy="786384"/>
          </a:xfrm>
          <a:prstGeom prst="roundRect">
            <a:avLst>
              <a:gd name="adj" fmla="val 16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60" y="3675887"/>
            <a:ext cx="182880" cy="182880"/>
          </a:xfrm>
          <a:prstGeom prst="ellipse">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575304"/>
            <a:ext cx="3291840" cy="411480"/>
          </a:xfrm>
          <a:prstGeom prst="rect">
            <a:avLst/>
          </a:prstGeom>
          <a:noFill/>
        </p:spPr>
        <p:txBody>
          <a:bodyPr wrap="square" lIns="18288" rIns="18288" tIns="18288" bIns="18288" anchor="t">
            <a:spAutoFit/>
          </a:bodyPr>
          <a:lstStyle/>
          <a:p>
            <a:pPr algn="l">
              <a:lnSpc>
                <a:spcPct val="115000"/>
              </a:lnSpc>
            </a:pPr>
            <a:r>
              <a:rPr sz="1700" b="0">
                <a:solidFill>
                  <a:srgbClr val="FF8F5E"/>
                </a:solidFill>
                <a:latin typeface="Segoe UI Semibold"/>
              </a:rPr>
              <a:t>AI platform team</a:t>
            </a:r>
          </a:p>
        </p:txBody>
      </p:sp>
      <p:sp>
        <p:nvSpPr>
          <p:cNvPr id="18" name="TextBox 17"/>
          <p:cNvSpPr txBox="1"/>
          <p:nvPr/>
        </p:nvSpPr>
        <p:spPr>
          <a:xfrm>
            <a:off x="4480560" y="3593591"/>
            <a:ext cx="6949440" cy="41148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a:rPr>
              <a:t>Which agents to build next or retire, unregistered tools, model performance</a:t>
            </a:r>
          </a:p>
        </p:txBody>
      </p:sp>
      <p:sp>
        <p:nvSpPr>
          <p:cNvPr id="19" name="Rounded Rectangle 18"/>
          <p:cNvSpPr/>
          <p:nvPr/>
        </p:nvSpPr>
        <p:spPr>
          <a:xfrm>
            <a:off x="548640" y="4306824"/>
            <a:ext cx="11064240" cy="786384"/>
          </a:xfrm>
          <a:prstGeom prst="roundRect">
            <a:avLst>
              <a:gd name="adj" fmla="val 16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4608576"/>
            <a:ext cx="182880" cy="182880"/>
          </a:xfrm>
          <a:prstGeom prst="ellipse">
            <a:avLst/>
          </a:prstGeom>
          <a:solidFill>
            <a:srgbClr val="95E3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507992"/>
            <a:ext cx="3291840" cy="411480"/>
          </a:xfrm>
          <a:prstGeom prst="rect">
            <a:avLst/>
          </a:prstGeom>
          <a:noFill/>
        </p:spPr>
        <p:txBody>
          <a:bodyPr wrap="square" lIns="18288" rIns="18288" tIns="18288" bIns="18288" anchor="t">
            <a:spAutoFit/>
          </a:bodyPr>
          <a:lstStyle/>
          <a:p>
            <a:pPr algn="l">
              <a:lnSpc>
                <a:spcPct val="115000"/>
              </a:lnSpc>
            </a:pPr>
            <a:r>
              <a:rPr sz="1700" b="0">
                <a:solidFill>
                  <a:srgbClr val="95E36F"/>
                </a:solidFill>
                <a:latin typeface="Segoe UI Semibold"/>
              </a:rPr>
              <a:t>Finance and FinOps</a:t>
            </a:r>
          </a:p>
        </p:txBody>
      </p:sp>
      <p:sp>
        <p:nvSpPr>
          <p:cNvPr id="22" name="TextBox 21"/>
          <p:cNvSpPr txBox="1"/>
          <p:nvPr/>
        </p:nvSpPr>
        <p:spPr>
          <a:xfrm>
            <a:off x="4480560" y="4526280"/>
            <a:ext cx="6949440" cy="41148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a:rPr>
              <a:t>Cost trends by team, agent and model; CSV exports for chargeback</a:t>
            </a:r>
          </a:p>
        </p:txBody>
      </p:sp>
      <p:sp>
        <p:nvSpPr>
          <p:cNvPr id="23" name="Rounded Rectangle 22"/>
          <p:cNvSpPr/>
          <p:nvPr/>
        </p:nvSpPr>
        <p:spPr>
          <a:xfrm>
            <a:off x="548640" y="5239512"/>
            <a:ext cx="11064240" cy="786384"/>
          </a:xfrm>
          <a:prstGeom prst="roundRect">
            <a:avLst>
              <a:gd name="adj" fmla="val 16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2960" y="5541264"/>
            <a:ext cx="182880" cy="182880"/>
          </a:xfrm>
          <a:prstGeom prst="ellipse">
            <a:avLst/>
          </a:prstGeom>
          <a:solidFill>
            <a:srgbClr val="FF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720" y="5440680"/>
            <a:ext cx="3291840" cy="411480"/>
          </a:xfrm>
          <a:prstGeom prst="rect">
            <a:avLst/>
          </a:prstGeom>
          <a:noFill/>
        </p:spPr>
        <p:txBody>
          <a:bodyPr wrap="square" lIns="18288" rIns="18288" tIns="18288" bIns="18288" anchor="t">
            <a:spAutoFit/>
          </a:bodyPr>
          <a:lstStyle/>
          <a:p>
            <a:pPr algn="l">
              <a:lnSpc>
                <a:spcPct val="115000"/>
              </a:lnSpc>
            </a:pPr>
            <a:r>
              <a:rPr sz="1700" b="0">
                <a:solidFill>
                  <a:srgbClr val="FF6FA5"/>
                </a:solidFill>
                <a:latin typeface="Segoe UI Semibold"/>
              </a:rPr>
              <a:t>Governance</a:t>
            </a:r>
          </a:p>
        </p:txBody>
      </p:sp>
      <p:sp>
        <p:nvSpPr>
          <p:cNvPr id="26" name="TextBox 25"/>
          <p:cNvSpPr txBox="1"/>
          <p:nvPr/>
        </p:nvSpPr>
        <p:spPr>
          <a:xfrm>
            <a:off x="4480560" y="5458968"/>
            <a:ext cx="6949440" cy="411480"/>
          </a:xfrm>
          <a:prstGeom prst="rect">
            <a:avLst/>
          </a:prstGeom>
          <a:noFill/>
        </p:spPr>
        <p:txBody>
          <a:bodyPr wrap="square" lIns="18288" rIns="18288" tIns="18288" bIns="18288" anchor="t">
            <a:spAutoFit/>
          </a:bodyPr>
          <a:lstStyle/>
          <a:p>
            <a:pPr algn="l">
              <a:lnSpc>
                <a:spcPct val="115000"/>
              </a:lnSpc>
            </a:pPr>
            <a:r>
              <a:rPr sz="1500" b="0">
                <a:solidFill>
                  <a:srgbClr val="EDF0FF"/>
                </a:solidFill>
                <a:latin typeface="Segoe UI"/>
              </a:rPr>
              <a:t>Which models are in use and by whom, with a call-level audit trail and no content</a:t>
            </a:r>
          </a:p>
        </p:txBody>
      </p:sp>
      <p:sp>
        <p:nvSpPr>
          <p:cNvPr id="27" name="TextBox 26"/>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
            </a:r>
          </a:p>
        </p:txBody>
      </p:sp>
      <p:sp>
        <p:nvSpPr>
          <p:cNvPr id="28" name="TextBox 27"/>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14</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A day with the AI Control Plane</a:t>
            </a:r>
          </a:p>
        </p:txBody>
      </p:sp>
      <p:sp>
        <p:nvSpPr>
          <p:cNvPr id="7" name="TextBox 6"/>
          <p:cNvSpPr txBox="1"/>
          <p:nvPr/>
        </p:nvSpPr>
        <p:spPr>
          <a:xfrm>
            <a:off x="548640" y="1298448"/>
            <a:ext cx="11064240" cy="54864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Every decision below used to be a guess. Now each one takes a minute.</a:t>
            </a:r>
          </a:p>
        </p:txBody>
      </p:sp>
      <p:sp>
        <p:nvSpPr>
          <p:cNvPr id="8" name="Rectangle 7"/>
          <p:cNvSpPr/>
          <p:nvPr/>
        </p:nvSpPr>
        <p:spPr>
          <a:xfrm>
            <a:off x="1847088" y="2103120"/>
            <a:ext cx="36576" cy="3977639"/>
          </a:xfrm>
          <a:prstGeom prst="rect">
            <a:avLst/>
          </a:prstGeom>
          <a:solidFill>
            <a:srgbClr val="262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029968"/>
            <a:ext cx="1143000" cy="365760"/>
          </a:xfrm>
          <a:prstGeom prst="rect">
            <a:avLst/>
          </a:prstGeom>
          <a:noFill/>
        </p:spPr>
        <p:txBody>
          <a:bodyPr wrap="square" lIns="18288" rIns="18288" tIns="18288" bIns="18288" anchor="t">
            <a:spAutoFit/>
          </a:bodyPr>
          <a:lstStyle/>
          <a:p>
            <a:pPr algn="r">
              <a:lnSpc>
                <a:spcPct val="115000"/>
              </a:lnSpc>
            </a:pPr>
            <a:r>
              <a:rPr sz="1600" b="0">
                <a:solidFill>
                  <a:srgbClr val="38E2C8"/>
                </a:solidFill>
                <a:latin typeface="Segoe UI Semibold"/>
              </a:rPr>
              <a:t>9:00</a:t>
            </a:r>
          </a:p>
        </p:txBody>
      </p:sp>
      <p:sp>
        <p:nvSpPr>
          <p:cNvPr id="10" name="Oval 9"/>
          <p:cNvSpPr/>
          <p:nvPr/>
        </p:nvSpPr>
        <p:spPr>
          <a:xfrm>
            <a:off x="1773936" y="2103120"/>
            <a:ext cx="182880" cy="182880"/>
          </a:xfrm>
          <a:prstGeom prst="ellipse">
            <a:avLst/>
          </a:prstGeom>
          <a:solidFill>
            <a:srgbClr val="38E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40280" y="2011680"/>
            <a:ext cx="9326880" cy="548640"/>
          </a:xfrm>
          <a:prstGeom prst="rect">
            <a:avLst/>
          </a:prstGeom>
          <a:noFill/>
        </p:spPr>
        <p:txBody>
          <a:bodyPr wrap="square" lIns="18288" rIns="18288" tIns="18288" bIns="18288" anchor="t">
            <a:spAutoFit/>
          </a:bodyPr>
          <a:lstStyle/>
          <a:p>
            <a:pPr algn="l">
              <a:lnSpc>
                <a:spcPct val="115000"/>
              </a:lnSpc>
            </a:pPr>
            <a:r>
              <a:rPr sz="1600" b="0">
                <a:solidFill>
                  <a:srgbClr val="EDF0FF"/>
                </a:solidFill>
                <a:latin typeface="Segoe UI"/>
              </a:rPr>
              <a:t>CTO opens the Overview: 53 of 63 agents active, calls up this week.</a:t>
            </a:r>
          </a:p>
        </p:txBody>
      </p:sp>
      <p:sp>
        <p:nvSpPr>
          <p:cNvPr id="12" name="TextBox 11"/>
          <p:cNvSpPr txBox="1"/>
          <p:nvPr/>
        </p:nvSpPr>
        <p:spPr>
          <a:xfrm>
            <a:off x="548640" y="2871216"/>
            <a:ext cx="1143000" cy="365760"/>
          </a:xfrm>
          <a:prstGeom prst="rect">
            <a:avLst/>
          </a:prstGeom>
          <a:noFill/>
        </p:spPr>
        <p:txBody>
          <a:bodyPr wrap="square" lIns="18288" rIns="18288" tIns="18288" bIns="18288" anchor="t">
            <a:spAutoFit/>
          </a:bodyPr>
          <a:lstStyle/>
          <a:p>
            <a:pPr algn="r">
              <a:lnSpc>
                <a:spcPct val="115000"/>
              </a:lnSpc>
            </a:pPr>
            <a:r>
              <a:rPr sz="1600" b="0">
                <a:solidFill>
                  <a:srgbClr val="A08BFF"/>
                </a:solidFill>
                <a:latin typeface="Segoe UI Semibold"/>
              </a:rPr>
              <a:t>9:05</a:t>
            </a:r>
          </a:p>
        </p:txBody>
      </p:sp>
      <p:sp>
        <p:nvSpPr>
          <p:cNvPr id="13" name="Oval 12"/>
          <p:cNvSpPr/>
          <p:nvPr/>
        </p:nvSpPr>
        <p:spPr>
          <a:xfrm>
            <a:off x="1773936" y="2944368"/>
            <a:ext cx="182880" cy="182880"/>
          </a:xfrm>
          <a:prstGeom prst="ellipse">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40280" y="2852928"/>
            <a:ext cx="9326880" cy="548640"/>
          </a:xfrm>
          <a:prstGeom prst="rect">
            <a:avLst/>
          </a:prstGeom>
          <a:noFill/>
        </p:spPr>
        <p:txBody>
          <a:bodyPr wrap="square" lIns="18288" rIns="18288" tIns="18288" bIns="18288" anchor="t">
            <a:spAutoFit/>
          </a:bodyPr>
          <a:lstStyle/>
          <a:p>
            <a:pPr algn="l">
              <a:lnSpc>
                <a:spcPct val="115000"/>
              </a:lnSpc>
            </a:pPr>
            <a:r>
              <a:rPr sz="1600" b="0">
                <a:solidFill>
                  <a:srgbClr val="EDF0FF"/>
                </a:solidFill>
                <a:latin typeface="Segoe UI"/>
              </a:rPr>
              <a:t>Organization view shows Rapid labs at 5%; a 30-minute enablement session is booked.</a:t>
            </a:r>
          </a:p>
        </p:txBody>
      </p:sp>
      <p:sp>
        <p:nvSpPr>
          <p:cNvPr id="15" name="TextBox 14"/>
          <p:cNvSpPr txBox="1"/>
          <p:nvPr/>
        </p:nvSpPr>
        <p:spPr>
          <a:xfrm>
            <a:off x="548640" y="3712463"/>
            <a:ext cx="1143000" cy="365760"/>
          </a:xfrm>
          <a:prstGeom prst="rect">
            <a:avLst/>
          </a:prstGeom>
          <a:noFill/>
        </p:spPr>
        <p:txBody>
          <a:bodyPr wrap="square" lIns="18288" rIns="18288" tIns="18288" bIns="18288" anchor="t">
            <a:spAutoFit/>
          </a:bodyPr>
          <a:lstStyle/>
          <a:p>
            <a:pPr algn="r">
              <a:lnSpc>
                <a:spcPct val="115000"/>
              </a:lnSpc>
            </a:pPr>
            <a:r>
              <a:rPr sz="1600" b="0">
                <a:solidFill>
                  <a:srgbClr val="FF8F5E"/>
                </a:solidFill>
                <a:latin typeface="Segoe UI Semibold"/>
              </a:rPr>
              <a:t>11:00</a:t>
            </a:r>
          </a:p>
        </p:txBody>
      </p:sp>
      <p:sp>
        <p:nvSpPr>
          <p:cNvPr id="16" name="Oval 15"/>
          <p:cNvSpPr/>
          <p:nvPr/>
        </p:nvSpPr>
        <p:spPr>
          <a:xfrm>
            <a:off x="1773936" y="3785615"/>
            <a:ext cx="182880" cy="182880"/>
          </a:xfrm>
          <a:prstGeom prst="ellipse">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40280" y="3694176"/>
            <a:ext cx="9326880" cy="548640"/>
          </a:xfrm>
          <a:prstGeom prst="rect">
            <a:avLst/>
          </a:prstGeom>
          <a:noFill/>
        </p:spPr>
        <p:txBody>
          <a:bodyPr wrap="square" lIns="18288" rIns="18288" tIns="18288" bIns="18288" anchor="t">
            <a:spAutoFit/>
          </a:bodyPr>
          <a:lstStyle/>
          <a:p>
            <a:pPr algn="l">
              <a:lnSpc>
                <a:spcPct val="115000"/>
              </a:lnSpc>
            </a:pPr>
            <a:r>
              <a:rPr sz="1600" b="0">
                <a:solidFill>
                  <a:srgbClr val="EDF0FF"/>
                </a:solidFill>
                <a:latin typeface="Segoe UI"/>
              </a:rPr>
              <a:t>Platform team sees Modernisation is busiest and two Assurance agents idle; the backlog is reprioritized.</a:t>
            </a:r>
          </a:p>
        </p:txBody>
      </p:sp>
      <p:sp>
        <p:nvSpPr>
          <p:cNvPr id="18" name="TextBox 17"/>
          <p:cNvSpPr txBox="1"/>
          <p:nvPr/>
        </p:nvSpPr>
        <p:spPr>
          <a:xfrm>
            <a:off x="548640" y="4553712"/>
            <a:ext cx="1143000" cy="365760"/>
          </a:xfrm>
          <a:prstGeom prst="rect">
            <a:avLst/>
          </a:prstGeom>
          <a:noFill/>
        </p:spPr>
        <p:txBody>
          <a:bodyPr wrap="square" lIns="18288" rIns="18288" tIns="18288" bIns="18288" anchor="t">
            <a:spAutoFit/>
          </a:bodyPr>
          <a:lstStyle/>
          <a:p>
            <a:pPr algn="r">
              <a:lnSpc>
                <a:spcPct val="115000"/>
              </a:lnSpc>
            </a:pPr>
            <a:r>
              <a:rPr sz="1600" b="0">
                <a:solidFill>
                  <a:srgbClr val="FF6FA5"/>
                </a:solidFill>
                <a:latin typeface="Segoe UI Semibold"/>
              </a:rPr>
              <a:t>15:00</a:t>
            </a:r>
          </a:p>
        </p:txBody>
      </p:sp>
      <p:sp>
        <p:nvSpPr>
          <p:cNvPr id="19" name="Oval 18"/>
          <p:cNvSpPr/>
          <p:nvPr/>
        </p:nvSpPr>
        <p:spPr>
          <a:xfrm>
            <a:off x="1773936" y="4626864"/>
            <a:ext cx="182880" cy="182880"/>
          </a:xfrm>
          <a:prstGeom prst="ellipse">
            <a:avLst/>
          </a:prstGeom>
          <a:solidFill>
            <a:srgbClr val="FF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40280" y="4535424"/>
            <a:ext cx="9326880" cy="548640"/>
          </a:xfrm>
          <a:prstGeom prst="rect">
            <a:avLst/>
          </a:prstGeom>
          <a:noFill/>
        </p:spPr>
        <p:txBody>
          <a:bodyPr wrap="square" lIns="18288" rIns="18288" tIns="18288" bIns="18288" anchor="t">
            <a:spAutoFit/>
          </a:bodyPr>
          <a:lstStyle/>
          <a:p>
            <a:pPr algn="l">
              <a:lnSpc>
                <a:spcPct val="115000"/>
              </a:lnSpc>
            </a:pPr>
            <a:r>
              <a:rPr sz="1600" b="0">
                <a:solidFill>
                  <a:srgbClr val="EDF0FF"/>
                </a:solidFill>
                <a:latin typeface="Segoe UI"/>
              </a:rPr>
              <a:t>Latency rises; Models and Activity show one model slowing, so routine work moves to a faster model.</a:t>
            </a:r>
          </a:p>
        </p:txBody>
      </p:sp>
      <p:sp>
        <p:nvSpPr>
          <p:cNvPr id="21" name="TextBox 20"/>
          <p:cNvSpPr txBox="1"/>
          <p:nvPr/>
        </p:nvSpPr>
        <p:spPr>
          <a:xfrm>
            <a:off x="548640" y="5394960"/>
            <a:ext cx="1143000" cy="365760"/>
          </a:xfrm>
          <a:prstGeom prst="rect">
            <a:avLst/>
          </a:prstGeom>
          <a:noFill/>
        </p:spPr>
        <p:txBody>
          <a:bodyPr wrap="square" lIns="18288" rIns="18288" tIns="18288" bIns="18288" anchor="t">
            <a:spAutoFit/>
          </a:bodyPr>
          <a:lstStyle/>
          <a:p>
            <a:pPr algn="r">
              <a:lnSpc>
                <a:spcPct val="115000"/>
              </a:lnSpc>
            </a:pPr>
            <a:r>
              <a:rPr sz="1600" b="0">
                <a:solidFill>
                  <a:srgbClr val="95E36F"/>
                </a:solidFill>
                <a:latin typeface="Segoe UI Semibold"/>
              </a:rPr>
              <a:t>Month end</a:t>
            </a:r>
          </a:p>
        </p:txBody>
      </p:sp>
      <p:sp>
        <p:nvSpPr>
          <p:cNvPr id="22" name="Oval 21"/>
          <p:cNvSpPr/>
          <p:nvPr/>
        </p:nvSpPr>
        <p:spPr>
          <a:xfrm>
            <a:off x="1773936" y="5468112"/>
            <a:ext cx="182880" cy="182880"/>
          </a:xfrm>
          <a:prstGeom prst="ellipse">
            <a:avLst/>
          </a:prstGeom>
          <a:solidFill>
            <a:srgbClr val="95E3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40280" y="5376672"/>
            <a:ext cx="9326880" cy="548640"/>
          </a:xfrm>
          <a:prstGeom prst="rect">
            <a:avLst/>
          </a:prstGeom>
          <a:noFill/>
        </p:spPr>
        <p:txBody>
          <a:bodyPr wrap="square" lIns="18288" rIns="18288" tIns="18288" bIns="18288" anchor="t">
            <a:spAutoFit/>
          </a:bodyPr>
          <a:lstStyle/>
          <a:p>
            <a:pPr algn="l">
              <a:lnSpc>
                <a:spcPct val="115000"/>
              </a:lnSpc>
            </a:pPr>
            <a:r>
              <a:rPr sz="1600" b="0">
                <a:solidFill>
                  <a:srgbClr val="EDF0FF"/>
                </a:solidFill>
                <a:latin typeface="Segoe UI"/>
              </a:rPr>
              <a:t>Finance exports the team CSV for cost allocation.</a:t>
            </a:r>
          </a:p>
        </p:txBody>
      </p:sp>
      <p:sp>
        <p:nvSpPr>
          <p:cNvPr id="24" name="TextBox 23"/>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
            </a:r>
          </a:p>
        </p:txBody>
      </p:sp>
      <p:sp>
        <p:nvSpPr>
          <p:cNvPr id="25" name="TextBox 24"/>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15</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Roll-out and next steps</a:t>
            </a:r>
          </a:p>
        </p:txBody>
      </p:sp>
      <p:sp>
        <p:nvSpPr>
          <p:cNvPr id="7" name="Rounded Rectangle 6"/>
          <p:cNvSpPr/>
          <p:nvPr/>
        </p:nvSpPr>
        <p:spPr>
          <a:xfrm>
            <a:off x="548640" y="1600200"/>
            <a:ext cx="2103120" cy="356616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00200"/>
            <a:ext cx="1097280" cy="45720"/>
          </a:xfrm>
          <a:prstGeom prst="rect">
            <a:avLst/>
          </a:prstGeom>
          <a:solidFill>
            <a:srgbClr val="38E2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20240"/>
            <a:ext cx="1737360" cy="548640"/>
          </a:xfrm>
          <a:prstGeom prst="rect">
            <a:avLst/>
          </a:prstGeom>
          <a:noFill/>
        </p:spPr>
        <p:txBody>
          <a:bodyPr wrap="square" lIns="18288" rIns="18288" tIns="18288" bIns="18288" anchor="t">
            <a:spAutoFit/>
          </a:bodyPr>
          <a:lstStyle/>
          <a:p>
            <a:pPr algn="l">
              <a:lnSpc>
                <a:spcPct val="115000"/>
              </a:lnSpc>
            </a:pPr>
            <a:r>
              <a:rPr sz="3600" b="0">
                <a:solidFill>
                  <a:srgbClr val="38E2C8"/>
                </a:solidFill>
                <a:latin typeface="Segoe UI Semibold"/>
              </a:rPr>
              <a:t>1</a:t>
            </a:r>
          </a:p>
        </p:txBody>
      </p:sp>
      <p:sp>
        <p:nvSpPr>
          <p:cNvPr id="10" name="TextBox 9"/>
          <p:cNvSpPr txBox="1"/>
          <p:nvPr/>
        </p:nvSpPr>
        <p:spPr>
          <a:xfrm>
            <a:off x="777240" y="2697480"/>
            <a:ext cx="1737360" cy="457200"/>
          </a:xfrm>
          <a:prstGeom prst="rect">
            <a:avLst/>
          </a:prstGeom>
          <a:noFill/>
        </p:spPr>
        <p:txBody>
          <a:bodyPr wrap="square" lIns="18288" rIns="18288" tIns="18288" bIns="18288" anchor="t">
            <a:spAutoFit/>
          </a:bodyPr>
          <a:lstStyle/>
          <a:p>
            <a:pPr algn="l">
              <a:lnSpc>
                <a:spcPct val="115000"/>
              </a:lnSpc>
            </a:pPr>
            <a:r>
              <a:rPr sz="1900" b="0">
                <a:solidFill>
                  <a:srgbClr val="EDF0FF"/>
                </a:solidFill>
                <a:latin typeface="Segoe UI Semibold"/>
              </a:rPr>
              <a:t>Pilot</a:t>
            </a:r>
          </a:p>
        </p:txBody>
      </p:sp>
      <p:sp>
        <p:nvSpPr>
          <p:cNvPr id="11" name="TextBox 10"/>
          <p:cNvSpPr txBox="1"/>
          <p:nvPr/>
        </p:nvSpPr>
        <p:spPr>
          <a:xfrm>
            <a:off x="777240" y="3200400"/>
            <a:ext cx="1691640" cy="18288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1–2 weeks: turn on the organization policy and connect the receiver.</a:t>
            </a:r>
          </a:p>
        </p:txBody>
      </p:sp>
      <p:sp>
        <p:nvSpPr>
          <p:cNvPr id="12" name="Rounded Rectangle 11"/>
          <p:cNvSpPr/>
          <p:nvPr/>
        </p:nvSpPr>
        <p:spPr>
          <a:xfrm>
            <a:off x="2798064" y="1600200"/>
            <a:ext cx="2103120" cy="356616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26664" y="1600200"/>
            <a:ext cx="1097280" cy="45720"/>
          </a:xfrm>
          <a:prstGeom prst="rect">
            <a:avLst/>
          </a:prstGeom>
          <a:solidFill>
            <a:srgbClr val="A08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26664" y="1920240"/>
            <a:ext cx="1737360" cy="548640"/>
          </a:xfrm>
          <a:prstGeom prst="rect">
            <a:avLst/>
          </a:prstGeom>
          <a:noFill/>
        </p:spPr>
        <p:txBody>
          <a:bodyPr wrap="square" lIns="18288" rIns="18288" tIns="18288" bIns="18288" anchor="t">
            <a:spAutoFit/>
          </a:bodyPr>
          <a:lstStyle/>
          <a:p>
            <a:pPr algn="l">
              <a:lnSpc>
                <a:spcPct val="115000"/>
              </a:lnSpc>
            </a:pPr>
            <a:r>
              <a:rPr sz="3600" b="0">
                <a:solidFill>
                  <a:srgbClr val="A08BFF"/>
                </a:solidFill>
                <a:latin typeface="Segoe UI Semibold"/>
              </a:rPr>
              <a:t>2</a:t>
            </a:r>
          </a:p>
        </p:txBody>
      </p:sp>
      <p:sp>
        <p:nvSpPr>
          <p:cNvPr id="15" name="TextBox 14"/>
          <p:cNvSpPr txBox="1"/>
          <p:nvPr/>
        </p:nvSpPr>
        <p:spPr>
          <a:xfrm>
            <a:off x="3026664" y="2697480"/>
            <a:ext cx="1737360" cy="457200"/>
          </a:xfrm>
          <a:prstGeom prst="rect">
            <a:avLst/>
          </a:prstGeom>
          <a:noFill/>
        </p:spPr>
        <p:txBody>
          <a:bodyPr wrap="square" lIns="18288" rIns="18288" tIns="18288" bIns="18288" anchor="t">
            <a:spAutoFit/>
          </a:bodyPr>
          <a:lstStyle/>
          <a:p>
            <a:pPr algn="l">
              <a:lnSpc>
                <a:spcPct val="115000"/>
              </a:lnSpc>
            </a:pPr>
            <a:r>
              <a:rPr sz="1900" b="0">
                <a:solidFill>
                  <a:srgbClr val="EDF0FF"/>
                </a:solidFill>
                <a:latin typeface="Segoe UI Semibold"/>
              </a:rPr>
              <a:t>Real data</a:t>
            </a:r>
          </a:p>
        </p:txBody>
      </p:sp>
      <p:sp>
        <p:nvSpPr>
          <p:cNvPr id="16" name="TextBox 15"/>
          <p:cNvSpPr txBox="1"/>
          <p:nvPr/>
        </p:nvSpPr>
        <p:spPr>
          <a:xfrm>
            <a:off x="3026664" y="3200400"/>
            <a:ext cx="1691640" cy="18288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Load actual team memberships and the full agent catalogue.</a:t>
            </a:r>
          </a:p>
        </p:txBody>
      </p:sp>
      <p:sp>
        <p:nvSpPr>
          <p:cNvPr id="17" name="Rounded Rectangle 16"/>
          <p:cNvSpPr/>
          <p:nvPr/>
        </p:nvSpPr>
        <p:spPr>
          <a:xfrm>
            <a:off x="5047488" y="1600200"/>
            <a:ext cx="2103120" cy="356616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76088" y="1600200"/>
            <a:ext cx="1097280" cy="45720"/>
          </a:xfrm>
          <a:prstGeom prst="rect">
            <a:avLst/>
          </a:prstGeom>
          <a:solidFill>
            <a:srgbClr val="FF8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76088" y="1920240"/>
            <a:ext cx="1737360" cy="548640"/>
          </a:xfrm>
          <a:prstGeom prst="rect">
            <a:avLst/>
          </a:prstGeom>
          <a:noFill/>
        </p:spPr>
        <p:txBody>
          <a:bodyPr wrap="square" lIns="18288" rIns="18288" tIns="18288" bIns="18288" anchor="t">
            <a:spAutoFit/>
          </a:bodyPr>
          <a:lstStyle/>
          <a:p>
            <a:pPr algn="l">
              <a:lnSpc>
                <a:spcPct val="115000"/>
              </a:lnSpc>
            </a:pPr>
            <a:r>
              <a:rPr sz="3600" b="0">
                <a:solidFill>
                  <a:srgbClr val="FF8F5E"/>
                </a:solidFill>
                <a:latin typeface="Segoe UI Semibold"/>
              </a:rPr>
              <a:t>3</a:t>
            </a:r>
          </a:p>
        </p:txBody>
      </p:sp>
      <p:sp>
        <p:nvSpPr>
          <p:cNvPr id="20" name="TextBox 19"/>
          <p:cNvSpPr txBox="1"/>
          <p:nvPr/>
        </p:nvSpPr>
        <p:spPr>
          <a:xfrm>
            <a:off x="5276088" y="2697480"/>
            <a:ext cx="1737360" cy="457200"/>
          </a:xfrm>
          <a:prstGeom prst="rect">
            <a:avLst/>
          </a:prstGeom>
          <a:noFill/>
        </p:spPr>
        <p:txBody>
          <a:bodyPr wrap="square" lIns="18288" rIns="18288" tIns="18288" bIns="18288" anchor="t">
            <a:spAutoFit/>
          </a:bodyPr>
          <a:lstStyle/>
          <a:p>
            <a:pPr algn="l">
              <a:lnSpc>
                <a:spcPct val="115000"/>
              </a:lnSpc>
            </a:pPr>
            <a:r>
              <a:rPr sz="1900" b="0">
                <a:solidFill>
                  <a:srgbClr val="EDF0FF"/>
                </a:solidFill>
                <a:latin typeface="Segoe UI Semibold"/>
              </a:rPr>
              <a:t>Harden</a:t>
            </a:r>
          </a:p>
        </p:txBody>
      </p:sp>
      <p:sp>
        <p:nvSpPr>
          <p:cNvPr id="21" name="TextBox 20"/>
          <p:cNvSpPr txBox="1"/>
          <p:nvPr/>
        </p:nvSpPr>
        <p:spPr>
          <a:xfrm>
            <a:off x="5276088" y="3200400"/>
            <a:ext cx="1691640" cy="18288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Add sign-in and HTTPS before exposing the receiver beyond localhost.</a:t>
            </a:r>
          </a:p>
        </p:txBody>
      </p:sp>
      <p:sp>
        <p:nvSpPr>
          <p:cNvPr id="22" name="Rounded Rectangle 21"/>
          <p:cNvSpPr/>
          <p:nvPr/>
        </p:nvSpPr>
        <p:spPr>
          <a:xfrm>
            <a:off x="7296912" y="1600200"/>
            <a:ext cx="2103120" cy="356616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25512" y="1600200"/>
            <a:ext cx="1097280" cy="45720"/>
          </a:xfrm>
          <a:prstGeom prst="rect">
            <a:avLst/>
          </a:prstGeom>
          <a:solidFill>
            <a:srgbClr val="95E3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25512" y="1920240"/>
            <a:ext cx="1737360" cy="548640"/>
          </a:xfrm>
          <a:prstGeom prst="rect">
            <a:avLst/>
          </a:prstGeom>
          <a:noFill/>
        </p:spPr>
        <p:txBody>
          <a:bodyPr wrap="square" lIns="18288" rIns="18288" tIns="18288" bIns="18288" anchor="t">
            <a:spAutoFit/>
          </a:bodyPr>
          <a:lstStyle/>
          <a:p>
            <a:pPr algn="l">
              <a:lnSpc>
                <a:spcPct val="115000"/>
              </a:lnSpc>
            </a:pPr>
            <a:r>
              <a:rPr sz="3600" b="0">
                <a:solidFill>
                  <a:srgbClr val="95E36F"/>
                </a:solidFill>
                <a:latin typeface="Segoe UI Semibold"/>
              </a:rPr>
              <a:t>4</a:t>
            </a:r>
          </a:p>
        </p:txBody>
      </p:sp>
      <p:sp>
        <p:nvSpPr>
          <p:cNvPr id="25" name="TextBox 24"/>
          <p:cNvSpPr txBox="1"/>
          <p:nvPr/>
        </p:nvSpPr>
        <p:spPr>
          <a:xfrm>
            <a:off x="7525512" y="2697480"/>
            <a:ext cx="1737360" cy="457200"/>
          </a:xfrm>
          <a:prstGeom prst="rect">
            <a:avLst/>
          </a:prstGeom>
          <a:noFill/>
        </p:spPr>
        <p:txBody>
          <a:bodyPr wrap="square" lIns="18288" rIns="18288" tIns="18288" bIns="18288" anchor="t">
            <a:spAutoFit/>
          </a:bodyPr>
          <a:lstStyle/>
          <a:p>
            <a:pPr algn="l">
              <a:lnSpc>
                <a:spcPct val="115000"/>
              </a:lnSpc>
            </a:pPr>
            <a:r>
              <a:rPr sz="1900" b="0">
                <a:solidFill>
                  <a:srgbClr val="EDF0FF"/>
                </a:solidFill>
                <a:latin typeface="Segoe UI Semibold"/>
              </a:rPr>
              <a:t>Extend</a:t>
            </a:r>
          </a:p>
        </p:txBody>
      </p:sp>
      <p:sp>
        <p:nvSpPr>
          <p:cNvPr id="26" name="TextBox 25"/>
          <p:cNvSpPr txBox="1"/>
          <p:nvPr/>
        </p:nvSpPr>
        <p:spPr>
          <a:xfrm>
            <a:off x="7525512" y="3200400"/>
            <a:ext cx="1691640" cy="18288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Wrap custom Python agents; add real model pricing in place of the flat estimate.</a:t>
            </a:r>
          </a:p>
        </p:txBody>
      </p:sp>
      <p:sp>
        <p:nvSpPr>
          <p:cNvPr id="27" name="Rounded Rectangle 26"/>
          <p:cNvSpPr/>
          <p:nvPr/>
        </p:nvSpPr>
        <p:spPr>
          <a:xfrm>
            <a:off x="9546336" y="1600200"/>
            <a:ext cx="2103120" cy="3566160"/>
          </a:xfrm>
          <a:prstGeom prst="roundRect">
            <a:avLst>
              <a:gd name="adj" fmla="val 8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74936" y="1600200"/>
            <a:ext cx="1097280" cy="45720"/>
          </a:xfrm>
          <a:prstGeom prst="rect">
            <a:avLst/>
          </a:prstGeom>
          <a:solidFill>
            <a:srgbClr val="FF6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74936" y="1920240"/>
            <a:ext cx="1737360" cy="548640"/>
          </a:xfrm>
          <a:prstGeom prst="rect">
            <a:avLst/>
          </a:prstGeom>
          <a:noFill/>
        </p:spPr>
        <p:txBody>
          <a:bodyPr wrap="square" lIns="18288" rIns="18288" tIns="18288" bIns="18288" anchor="t">
            <a:spAutoFit/>
          </a:bodyPr>
          <a:lstStyle/>
          <a:p>
            <a:pPr algn="l">
              <a:lnSpc>
                <a:spcPct val="115000"/>
              </a:lnSpc>
            </a:pPr>
            <a:r>
              <a:rPr sz="3600" b="0">
                <a:solidFill>
                  <a:srgbClr val="FF6FA5"/>
                </a:solidFill>
                <a:latin typeface="Segoe UI Semibold"/>
              </a:rPr>
              <a:t>5</a:t>
            </a:r>
          </a:p>
        </p:txBody>
      </p:sp>
      <p:sp>
        <p:nvSpPr>
          <p:cNvPr id="30" name="TextBox 29"/>
          <p:cNvSpPr txBox="1"/>
          <p:nvPr/>
        </p:nvSpPr>
        <p:spPr>
          <a:xfrm>
            <a:off x="9774936" y="2697480"/>
            <a:ext cx="1737360" cy="457200"/>
          </a:xfrm>
          <a:prstGeom prst="rect">
            <a:avLst/>
          </a:prstGeom>
          <a:noFill/>
        </p:spPr>
        <p:txBody>
          <a:bodyPr wrap="square" lIns="18288" rIns="18288" tIns="18288" bIns="18288" anchor="t">
            <a:spAutoFit/>
          </a:bodyPr>
          <a:lstStyle/>
          <a:p>
            <a:pPr algn="l">
              <a:lnSpc>
                <a:spcPct val="115000"/>
              </a:lnSpc>
            </a:pPr>
            <a:r>
              <a:rPr sz="1900" b="0">
                <a:solidFill>
                  <a:srgbClr val="EDF0FF"/>
                </a:solidFill>
                <a:latin typeface="Segoe UI Semibold"/>
              </a:rPr>
              <a:t>Review</a:t>
            </a:r>
          </a:p>
        </p:txBody>
      </p:sp>
      <p:sp>
        <p:nvSpPr>
          <p:cNvPr id="31" name="TextBox 30"/>
          <p:cNvSpPr txBox="1"/>
          <p:nvPr/>
        </p:nvSpPr>
        <p:spPr>
          <a:xfrm>
            <a:off x="9774936" y="3200400"/>
            <a:ext cx="1691640" cy="1828800"/>
          </a:xfrm>
          <a:prstGeom prst="rect">
            <a:avLst/>
          </a:prstGeom>
          <a:noFill/>
        </p:spPr>
        <p:txBody>
          <a:bodyPr wrap="square" lIns="18288" rIns="18288" tIns="18288" bIns="18288" anchor="t">
            <a:spAutoFit/>
          </a:bodyPr>
          <a:lstStyle/>
          <a:p>
            <a:pPr algn="l">
              <a:lnSpc>
                <a:spcPct val="115000"/>
              </a:lnSpc>
            </a:pPr>
            <a:r>
              <a:rPr sz="1300" b="0">
                <a:solidFill>
                  <a:srgbClr val="9BA1C4"/>
                </a:solidFill>
                <a:latin typeface="Segoe UI"/>
              </a:rPr>
              <a:t>Hold a monthly AI adoption review driven by the dashboard.</a:t>
            </a:r>
          </a:p>
        </p:txBody>
      </p:sp>
      <p:sp>
        <p:nvSpPr>
          <p:cNvPr id="32" name="TextBox 31"/>
          <p:cNvSpPr txBox="1"/>
          <p:nvPr/>
        </p:nvSpPr>
        <p:spPr>
          <a:xfrm>
            <a:off x="548640" y="5486400"/>
            <a:ext cx="11064240" cy="731520"/>
          </a:xfrm>
          <a:prstGeom prst="rect">
            <a:avLst/>
          </a:prstGeom>
          <a:noFill/>
        </p:spPr>
        <p:txBody>
          <a:bodyPr wrap="square" lIns="18288" rIns="18288" tIns="18288" bIns="18288" anchor="t">
            <a:spAutoFit/>
          </a:bodyPr>
          <a:lstStyle/>
          <a:p>
            <a:pPr algn="l">
              <a:lnSpc>
                <a:spcPct val="115000"/>
              </a:lnSpc>
            </a:pPr>
            <a:r>
              <a:rPr sz="1900" b="0">
                <a:solidFill>
                  <a:srgbClr val="EDF0FF"/>
                </a:solidFill>
                <a:latin typeface="Segoe UI Semibold"/>
              </a:rPr>
              <a:t>You have invested in AI agents. </a:t>
            </a:r>
            <a:r>
              <a:rPr sz="1900" b="0">
                <a:solidFill>
                  <a:srgbClr val="9BA1C4"/>
                </a:solidFill>
                <a:latin typeface="Segoe UI"/>
              </a:rPr>
              <a:t>The AI Control Plane shows you, live, whether that investment is working, and what to do next.</a:t>
            </a:r>
          </a:p>
        </p:txBody>
      </p:sp>
      <p:sp>
        <p:nvSpPr>
          <p:cNvPr id="33" name="TextBox 32"/>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
            </a:r>
          </a:p>
        </p:txBody>
      </p:sp>
      <p:sp>
        <p:nvSpPr>
          <p:cNvPr id="34" name="TextBox 33"/>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4048"/>
            <a:ext cx="2743200" cy="274320"/>
          </a:xfrm>
          <a:prstGeom prst="rect">
            <a:avLst/>
          </a:prstGeom>
          <a:noFill/>
        </p:spPr>
        <p:txBody>
          <a:bodyPr wrap="square" lIns="18288" rIns="18288" tIns="18288" bIns="18288" anchor="t">
            <a:spAutoFit/>
          </a:bodyPr>
          <a:lstStyle/>
          <a:p>
            <a:pPr algn="l">
              <a:lnSpc>
                <a:spcPct val="115000"/>
              </a:lnSpc>
            </a:pPr>
            <a:r>
              <a:rPr sz="1100" b="0">
                <a:solidFill>
                  <a:srgbClr val="9BA1C4"/>
                </a:solidFill>
                <a:latin typeface="Segoe UI Semibold"/>
              </a:rPr>
              <a:t>16</a:t>
            </a:r>
          </a:p>
        </p:txBody>
      </p:sp>
      <p:sp>
        <p:nvSpPr>
          <p:cNvPr id="6" name="TextBox 5"/>
          <p:cNvSpPr txBox="1"/>
          <p:nvPr/>
        </p:nvSpPr>
        <p:spPr>
          <a:xfrm>
            <a:off x="548640" y="566928"/>
            <a:ext cx="11064240" cy="822960"/>
          </a:xfrm>
          <a:prstGeom prst="rect">
            <a:avLst/>
          </a:prstGeom>
          <a:noFill/>
        </p:spPr>
        <p:txBody>
          <a:bodyPr wrap="square" lIns="18288" rIns="18288" tIns="18288" bIns="18288" anchor="t">
            <a:spAutoFit/>
          </a:bodyPr>
          <a:lstStyle/>
          <a:p>
            <a:pPr algn="l">
              <a:lnSpc>
                <a:spcPct val="115000"/>
              </a:lnSpc>
            </a:pPr>
            <a:r>
              <a:rPr sz="3400" b="0">
                <a:solidFill>
                  <a:srgbClr val="EDF0FF"/>
                </a:solidFill>
                <a:latin typeface="Segoe UI Semibold"/>
              </a:rPr>
              <a:t>Questions we expect</a:t>
            </a:r>
          </a:p>
        </p:txBody>
      </p:sp>
      <p:sp>
        <p:nvSpPr>
          <p:cNvPr id="7" name="Rounded Rectangle 6"/>
          <p:cNvSpPr/>
          <p:nvPr/>
        </p:nvSpPr>
        <p:spPr>
          <a:xfrm>
            <a:off x="548640" y="1463040"/>
            <a:ext cx="11064240" cy="822960"/>
          </a:xfrm>
          <a:prstGeom prst="roundRect">
            <a:avLst>
              <a:gd name="adj" fmla="val 14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81912"/>
            <a:ext cx="4023360" cy="640080"/>
          </a:xfrm>
          <a:prstGeom prst="rect">
            <a:avLst/>
          </a:prstGeom>
          <a:noFill/>
        </p:spPr>
        <p:txBody>
          <a:bodyPr wrap="square" lIns="18288" rIns="18288" tIns="18288" bIns="18288" anchor="t">
            <a:spAutoFit/>
          </a:bodyPr>
          <a:lstStyle/>
          <a:p>
            <a:pPr algn="l">
              <a:lnSpc>
                <a:spcPct val="115000"/>
              </a:lnSpc>
            </a:pPr>
            <a:r>
              <a:rPr sz="1500" b="0">
                <a:solidFill>
                  <a:srgbClr val="38E2C8"/>
                </a:solidFill>
                <a:latin typeface="Segoe UI Semibold"/>
              </a:rPr>
              <a:t>Do you read our code or prompts?</a:t>
            </a:r>
          </a:p>
        </p:txBody>
      </p:sp>
      <p:sp>
        <p:nvSpPr>
          <p:cNvPr id="9" name="TextBox 8"/>
          <p:cNvSpPr txBox="1"/>
          <p:nvPr/>
        </p:nvSpPr>
        <p:spPr>
          <a:xfrm>
            <a:off x="4846320" y="1581912"/>
            <a:ext cx="6583680" cy="640080"/>
          </a:xfrm>
          <a:prstGeom prst="rect">
            <a:avLst/>
          </a:prstGeom>
          <a:noFill/>
        </p:spPr>
        <p:txBody>
          <a:bodyPr wrap="square" lIns="18288" rIns="18288" tIns="18288" bIns="18288" anchor="t">
            <a:spAutoFit/>
          </a:bodyPr>
          <a:lstStyle/>
          <a:p>
            <a:pPr algn="l">
              <a:lnSpc>
                <a:spcPct val="115000"/>
              </a:lnSpc>
            </a:pPr>
            <a:r>
              <a:rPr sz="1400" b="0">
                <a:solidFill>
                  <a:srgbClr val="EDF0FF"/>
                </a:solidFill>
                <a:latin typeface="Segoe UI"/>
              </a:rPr>
              <a:t>No. Content capture is off and locked by policy; we record activity only.</a:t>
            </a:r>
          </a:p>
        </p:txBody>
      </p:sp>
      <p:sp>
        <p:nvSpPr>
          <p:cNvPr id="10" name="Rounded Rectangle 9"/>
          <p:cNvSpPr/>
          <p:nvPr/>
        </p:nvSpPr>
        <p:spPr>
          <a:xfrm>
            <a:off x="548640" y="2423160"/>
            <a:ext cx="11064240" cy="822960"/>
          </a:xfrm>
          <a:prstGeom prst="roundRect">
            <a:avLst>
              <a:gd name="adj" fmla="val 14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542032"/>
            <a:ext cx="4023360" cy="640080"/>
          </a:xfrm>
          <a:prstGeom prst="rect">
            <a:avLst/>
          </a:prstGeom>
          <a:noFill/>
        </p:spPr>
        <p:txBody>
          <a:bodyPr wrap="square" lIns="18288" rIns="18288" tIns="18288" bIns="18288" anchor="t">
            <a:spAutoFit/>
          </a:bodyPr>
          <a:lstStyle/>
          <a:p>
            <a:pPr algn="l">
              <a:lnSpc>
                <a:spcPct val="115000"/>
              </a:lnSpc>
            </a:pPr>
            <a:r>
              <a:rPr sz="1500" b="0">
                <a:solidFill>
                  <a:srgbClr val="38E2C8"/>
                </a:solidFill>
                <a:latin typeface="Segoe UI Semibold"/>
              </a:rPr>
              <a:t>Is the cost exact?</a:t>
            </a:r>
          </a:p>
        </p:txBody>
      </p:sp>
      <p:sp>
        <p:nvSpPr>
          <p:cNvPr id="12" name="TextBox 11"/>
          <p:cNvSpPr txBox="1"/>
          <p:nvPr/>
        </p:nvSpPr>
        <p:spPr>
          <a:xfrm>
            <a:off x="4846320" y="2542032"/>
            <a:ext cx="6583680" cy="640080"/>
          </a:xfrm>
          <a:prstGeom prst="rect">
            <a:avLst/>
          </a:prstGeom>
          <a:noFill/>
        </p:spPr>
        <p:txBody>
          <a:bodyPr wrap="square" lIns="18288" rIns="18288" tIns="18288" bIns="18288" anchor="t">
            <a:spAutoFit/>
          </a:bodyPr>
          <a:lstStyle/>
          <a:p>
            <a:pPr algn="l">
              <a:lnSpc>
                <a:spcPct val="115000"/>
              </a:lnSpc>
            </a:pPr>
            <a:r>
              <a:rPr sz="1400" b="0">
                <a:solidFill>
                  <a:srgbClr val="EDF0FF"/>
                </a:solidFill>
                <a:latin typeface="Segoe UI"/>
              </a:rPr>
              <a:t>No. It is an estimate for comparing relative cost; exact billing comes from the provider invoice.</a:t>
            </a:r>
          </a:p>
        </p:txBody>
      </p:sp>
      <p:sp>
        <p:nvSpPr>
          <p:cNvPr id="13" name="Rounded Rectangle 12"/>
          <p:cNvSpPr/>
          <p:nvPr/>
        </p:nvSpPr>
        <p:spPr>
          <a:xfrm>
            <a:off x="548640" y="3383280"/>
            <a:ext cx="11064240" cy="822960"/>
          </a:xfrm>
          <a:prstGeom prst="roundRect">
            <a:avLst>
              <a:gd name="adj" fmla="val 14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02152"/>
            <a:ext cx="4023360" cy="640080"/>
          </a:xfrm>
          <a:prstGeom prst="rect">
            <a:avLst/>
          </a:prstGeom>
          <a:noFill/>
        </p:spPr>
        <p:txBody>
          <a:bodyPr wrap="square" lIns="18288" rIns="18288" tIns="18288" bIns="18288" anchor="t">
            <a:spAutoFit/>
          </a:bodyPr>
          <a:lstStyle/>
          <a:p>
            <a:pPr algn="l">
              <a:lnSpc>
                <a:spcPct val="115000"/>
              </a:lnSpc>
            </a:pPr>
            <a:r>
              <a:rPr sz="1500" b="0">
                <a:solidFill>
                  <a:srgbClr val="38E2C8"/>
                </a:solidFill>
                <a:latin typeface="Segoe UI Semibold"/>
              </a:rPr>
              <a:t>Why not just use GitHub's metrics?</a:t>
            </a:r>
          </a:p>
        </p:txBody>
      </p:sp>
      <p:sp>
        <p:nvSpPr>
          <p:cNvPr id="15" name="TextBox 14"/>
          <p:cNvSpPr txBox="1"/>
          <p:nvPr/>
        </p:nvSpPr>
        <p:spPr>
          <a:xfrm>
            <a:off x="4846320" y="3502152"/>
            <a:ext cx="6583680" cy="640080"/>
          </a:xfrm>
          <a:prstGeom prst="rect">
            <a:avLst/>
          </a:prstGeom>
          <a:noFill/>
        </p:spPr>
        <p:txBody>
          <a:bodyPr wrap="square" lIns="18288" rIns="18288" tIns="18288" bIns="18288" anchor="t">
            <a:spAutoFit/>
          </a:bodyPr>
          <a:lstStyle/>
          <a:p>
            <a:pPr algn="l">
              <a:lnSpc>
                <a:spcPct val="115000"/>
              </a:lnSpc>
            </a:pPr>
            <a:r>
              <a:rPr sz="1400" b="0">
                <a:solidFill>
                  <a:srgbClr val="EDF0FF"/>
                </a:solidFill>
                <a:latin typeface="Segoe UI"/>
              </a:rPr>
              <a:t>We include them. They show Copilot adoption; we add our own agents, teams, per-call tokens and latency, live.</a:t>
            </a:r>
          </a:p>
        </p:txBody>
      </p:sp>
      <p:sp>
        <p:nvSpPr>
          <p:cNvPr id="16" name="Rounded Rectangle 15"/>
          <p:cNvSpPr/>
          <p:nvPr/>
        </p:nvSpPr>
        <p:spPr>
          <a:xfrm>
            <a:off x="548640" y="4343400"/>
            <a:ext cx="11064240" cy="822960"/>
          </a:xfrm>
          <a:prstGeom prst="roundRect">
            <a:avLst>
              <a:gd name="adj" fmla="val 14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462272"/>
            <a:ext cx="4023360" cy="640080"/>
          </a:xfrm>
          <a:prstGeom prst="rect">
            <a:avLst/>
          </a:prstGeom>
          <a:noFill/>
        </p:spPr>
        <p:txBody>
          <a:bodyPr wrap="square" lIns="18288" rIns="18288" tIns="18288" bIns="18288" anchor="t">
            <a:spAutoFit/>
          </a:bodyPr>
          <a:lstStyle/>
          <a:p>
            <a:pPr algn="l">
              <a:lnSpc>
                <a:spcPct val="115000"/>
              </a:lnSpc>
            </a:pPr>
            <a:r>
              <a:rPr sz="1500" b="0">
                <a:solidFill>
                  <a:srgbClr val="38E2C8"/>
                </a:solidFill>
                <a:latin typeface="Segoe UI Semibold"/>
              </a:rPr>
              <a:t>What if someone turns telemetry off?</a:t>
            </a:r>
          </a:p>
        </p:txBody>
      </p:sp>
      <p:sp>
        <p:nvSpPr>
          <p:cNvPr id="18" name="TextBox 17"/>
          <p:cNvSpPr txBox="1"/>
          <p:nvPr/>
        </p:nvSpPr>
        <p:spPr>
          <a:xfrm>
            <a:off x="4846320" y="4462272"/>
            <a:ext cx="6583680" cy="640080"/>
          </a:xfrm>
          <a:prstGeom prst="rect">
            <a:avLst/>
          </a:prstGeom>
          <a:noFill/>
        </p:spPr>
        <p:txBody>
          <a:bodyPr wrap="square" lIns="18288" rIns="18288" tIns="18288" bIns="18288" anchor="t">
            <a:spAutoFit/>
          </a:bodyPr>
          <a:lstStyle/>
          <a:p>
            <a:pPr algn="l">
              <a:lnSpc>
                <a:spcPct val="115000"/>
              </a:lnSpc>
            </a:pPr>
            <a:r>
              <a:rPr sz="1400" b="0">
                <a:solidFill>
                  <a:srgbClr val="EDF0FF"/>
                </a:solidFill>
                <a:latin typeface="Segoe UI"/>
              </a:rPr>
              <a:t>Their calls will not appear, which is why the organization policy matters.</a:t>
            </a:r>
          </a:p>
        </p:txBody>
      </p:sp>
      <p:sp>
        <p:nvSpPr>
          <p:cNvPr id="19" name="Rounded Rectangle 18"/>
          <p:cNvSpPr/>
          <p:nvPr/>
        </p:nvSpPr>
        <p:spPr>
          <a:xfrm>
            <a:off x="548640" y="5303520"/>
            <a:ext cx="11064240" cy="822960"/>
          </a:xfrm>
          <a:prstGeom prst="roundRect">
            <a:avLst>
              <a:gd name="adj" fmla="val 14000"/>
            </a:avLst>
          </a:prstGeom>
          <a:solidFill>
            <a:srgbClr val="101321"/>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422392"/>
            <a:ext cx="4023360" cy="640080"/>
          </a:xfrm>
          <a:prstGeom prst="rect">
            <a:avLst/>
          </a:prstGeom>
          <a:noFill/>
        </p:spPr>
        <p:txBody>
          <a:bodyPr wrap="square" lIns="18288" rIns="18288" tIns="18288" bIns="18288" anchor="t">
            <a:spAutoFit/>
          </a:bodyPr>
          <a:lstStyle/>
          <a:p>
            <a:pPr algn="l">
              <a:lnSpc>
                <a:spcPct val="115000"/>
              </a:lnSpc>
            </a:pPr>
            <a:r>
              <a:rPr sz="1500" b="0">
                <a:solidFill>
                  <a:srgbClr val="38E2C8"/>
                </a:solidFill>
                <a:latin typeface="Segoe UI Semibold"/>
              </a:rPr>
              <a:t>Are the teams real?</a:t>
            </a:r>
          </a:p>
        </p:txBody>
      </p:sp>
      <p:sp>
        <p:nvSpPr>
          <p:cNvPr id="21" name="TextBox 20"/>
          <p:cNvSpPr txBox="1"/>
          <p:nvPr/>
        </p:nvSpPr>
        <p:spPr>
          <a:xfrm>
            <a:off x="4846320" y="5422392"/>
            <a:ext cx="6583680" cy="640080"/>
          </a:xfrm>
          <a:prstGeom prst="rect">
            <a:avLst/>
          </a:prstGeom>
          <a:noFill/>
        </p:spPr>
        <p:txBody>
          <a:bodyPr wrap="square" lIns="18288" rIns="18288" tIns="18288" bIns="18288" anchor="t">
            <a:spAutoFit/>
          </a:bodyPr>
          <a:lstStyle/>
          <a:p>
            <a:pPr algn="l">
              <a:lnSpc>
                <a:spcPct val="115000"/>
              </a:lnSpc>
            </a:pPr>
            <a:r>
              <a:rPr sz="1400" b="0">
                <a:solidFill>
                  <a:srgbClr val="EDF0FF"/>
                </a:solidFill>
                <a:latin typeface="Segoe UI"/>
              </a:rPr>
              <a:t>In this demo they are assigned at random. In production they come from your team directory.</a:t>
            </a:r>
          </a:p>
        </p:txBody>
      </p:sp>
      <p:sp>
        <p:nvSpPr>
          <p:cNvPr id="22" name="TextBox 21"/>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
            </a:r>
          </a:p>
        </p:txBody>
      </p:sp>
      <p:sp>
        <p:nvSpPr>
          <p:cNvPr id="23" name="TextBox 22"/>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A13"/>
        </a:solidFill>
        <a:effectLst/>
      </p:bgPr>
    </p:bg>
    <p:spTree>
      <p:nvGrpSpPr>
        <p:cNvPr id="1" name=""/>
        <p:cNvGrpSpPr/>
        <p:nvPr/>
      </p:nvGrpSpPr>
      <p:grpSpPr/>
      <p:sp>
        <p:nvSpPr>
          <p:cNvPr id="2" name="Oval 1"/>
          <p:cNvSpPr/>
          <p:nvPr/>
        </p:nvSpPr>
        <p:spPr>
          <a:xfrm>
            <a:off x="-2286000" y="-2926080"/>
            <a:ext cx="6858000" cy="6858000"/>
          </a:xfrm>
          <a:prstGeom prst="ellipse">
            <a:avLst/>
          </a:prstGeom>
          <a:solidFill>
            <a:srgbClr val="38E2C8">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291840"/>
            <a:ext cx="6858000" cy="6858000"/>
          </a:xfrm>
          <a:prstGeom prst="ellipse">
            <a:avLst/>
          </a:prstGeom>
          <a:solidFill>
            <a:srgbClr val="A08BFF">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0" y="5120640"/>
            <a:ext cx="5943600" cy="5943600"/>
          </a:xfrm>
          <a:prstGeom prst="ellipse">
            <a:avLst/>
          </a:prstGeom>
          <a:solidFill>
            <a:srgbClr val="FF8F5E">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751576" y="859536"/>
            <a:ext cx="5961888" cy="3769062"/>
          </a:xfrm>
          <a:prstGeom prst="roundRect">
            <a:avLst>
              <a:gd name="adj" fmla="val 3000"/>
            </a:avLst>
          </a:prstGeom>
          <a:solidFill>
            <a:srgbClr val="171B2C"/>
          </a:solidFill>
          <a:ln w="9525">
            <a:solidFill>
              <a:srgbClr val="262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3-organization.jpg"/>
          <p:cNvPicPr>
            <a:picLocks noChangeAspect="1"/>
          </p:cNvPicPr>
          <p:nvPr/>
        </p:nvPicPr>
        <p:blipFill>
          <a:blip r:embed="rId2"/>
          <a:stretch>
            <a:fillRect/>
          </a:stretch>
        </p:blipFill>
        <p:spPr>
          <a:xfrm>
            <a:off x="5806440" y="914400"/>
            <a:ext cx="5852160" cy="3659334"/>
          </a:xfrm>
          <a:prstGeom prst="rect">
            <a:avLst/>
          </a:prstGeom>
        </p:spPr>
      </p:pic>
      <p:sp>
        <p:nvSpPr>
          <p:cNvPr id="7" name="TextBox 6"/>
          <p:cNvSpPr txBox="1"/>
          <p:nvPr/>
        </p:nvSpPr>
        <p:spPr>
          <a:xfrm>
            <a:off x="548640" y="1554480"/>
            <a:ext cx="5120640" cy="1737360"/>
          </a:xfrm>
          <a:prstGeom prst="rect">
            <a:avLst/>
          </a:prstGeom>
          <a:noFill/>
        </p:spPr>
        <p:txBody>
          <a:bodyPr wrap="square" lIns="18288" rIns="18288" tIns="18288" bIns="18288" anchor="t">
            <a:spAutoFit/>
          </a:bodyPr>
          <a:lstStyle/>
          <a:p>
            <a:pPr algn="l">
              <a:lnSpc>
                <a:spcPct val="98000"/>
              </a:lnSpc>
            </a:pPr>
            <a:r>
              <a:rPr sz="4000" b="0">
                <a:solidFill>
                  <a:srgbClr val="EDF0FF"/>
                </a:solidFill>
                <a:latin typeface="Segoe UI Semibold"/>
              </a:rPr>
              <a:t>See the whole</a:t>
            </a:r>
          </a:p>
          <a:p>
            <a:pPr algn="l">
              <a:lnSpc>
                <a:spcPct val="98000"/>
              </a:lnSpc>
            </a:pPr>
            <a:r>
              <a:rPr sz="4000" b="0">
                <a:solidFill>
                  <a:srgbClr val="EDF0FF"/>
                </a:solidFill>
                <a:latin typeface="Segoe UI Semibold"/>
              </a:rPr>
              <a:t>organization</a:t>
            </a:r>
          </a:p>
          <a:p>
            <a:pPr algn="l">
              <a:lnSpc>
                <a:spcPct val="98000"/>
              </a:lnSpc>
            </a:pPr>
            <a:r>
              <a:rPr sz="4000" b="0">
                <a:solidFill>
                  <a:srgbClr val="EDF0FF"/>
                </a:solidFill>
                <a:latin typeface="Segoe UI Semibold"/>
              </a:rPr>
              <a:t>at once</a:t>
            </a:r>
          </a:p>
        </p:txBody>
      </p:sp>
      <p:sp>
        <p:nvSpPr>
          <p:cNvPr id="8" name="TextBox 7"/>
          <p:cNvSpPr txBox="1"/>
          <p:nvPr/>
        </p:nvSpPr>
        <p:spPr>
          <a:xfrm>
            <a:off x="548640" y="3611880"/>
            <a:ext cx="5029200" cy="731520"/>
          </a:xfrm>
          <a:prstGeom prst="rect">
            <a:avLst/>
          </a:prstGeom>
          <a:noFill/>
        </p:spPr>
        <p:txBody>
          <a:bodyPr wrap="square" lIns="18288" rIns="18288" tIns="18288" bIns="18288" anchor="t">
            <a:spAutoFit/>
          </a:bodyPr>
          <a:lstStyle/>
          <a:p>
            <a:pPr algn="l">
              <a:lnSpc>
                <a:spcPct val="115000"/>
              </a:lnSpc>
            </a:pPr>
            <a:r>
              <a:rPr sz="1800" b="0">
                <a:solidFill>
                  <a:srgbClr val="9BA1C4"/>
                </a:solidFill>
                <a:latin typeface="Segoe UI"/>
              </a:rPr>
              <a:t>Agents, people, teams and models, live from the receiver.</a:t>
            </a:r>
          </a:p>
        </p:txBody>
      </p:sp>
      <p:sp>
        <p:nvSpPr>
          <p:cNvPr id="9" name="Rounded Rectangle 8"/>
          <p:cNvSpPr/>
          <p:nvPr/>
        </p:nvSpPr>
        <p:spPr>
          <a:xfrm>
            <a:off x="548640" y="4480560"/>
            <a:ext cx="4480560" cy="685800"/>
          </a:xfrm>
          <a:prstGeom prst="roundRect">
            <a:avLst>
              <a:gd name="adj" fmla="val 50000"/>
            </a:avLst>
          </a:prstGeom>
          <a:solidFill>
            <a:srgbClr val="38E2C8"/>
          </a:solidFill>
          <a:ln w="9525">
            <a:solidFill>
              <a:srgbClr val="38E2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572000"/>
            <a:ext cx="4480560" cy="502920"/>
          </a:xfrm>
          <a:prstGeom prst="rect">
            <a:avLst/>
          </a:prstGeom>
          <a:noFill/>
        </p:spPr>
        <p:txBody>
          <a:bodyPr wrap="square" lIns="18288" rIns="18288" tIns="18288" bIns="18288" anchor="ctr">
            <a:spAutoFit/>
          </a:bodyPr>
          <a:lstStyle/>
          <a:p>
            <a:pPr algn="ctr">
              <a:lnSpc>
                <a:spcPct val="115000"/>
              </a:lnSpc>
            </a:pPr>
            <a:r>
              <a:rPr sz="1800" b="0">
                <a:solidFill>
                  <a:srgbClr val="080A13"/>
                </a:solidFill>
                <a:latin typeface="Segoe UI Semibold"/>
              </a:rPr>
              <a:t>Live demo: /dashboard</a:t>
            </a:r>
          </a:p>
        </p:txBody>
      </p:sp>
      <p:sp>
        <p:nvSpPr>
          <p:cNvPr id="11" name="TextBox 10"/>
          <p:cNvSpPr txBox="1"/>
          <p:nvPr/>
        </p:nvSpPr>
        <p:spPr>
          <a:xfrm>
            <a:off x="548640" y="5394960"/>
            <a:ext cx="5120640" cy="457200"/>
          </a:xfrm>
          <a:prstGeom prst="rect">
            <a:avLst/>
          </a:prstGeom>
          <a:noFill/>
        </p:spPr>
        <p:txBody>
          <a:bodyPr wrap="square" lIns="18288" rIns="18288" tIns="18288" bIns="18288" anchor="t">
            <a:spAutoFit/>
          </a:bodyPr>
          <a:lstStyle/>
          <a:p>
            <a:pPr algn="l">
              <a:lnSpc>
                <a:spcPct val="115000"/>
              </a:lnSpc>
            </a:pPr>
            <a:r>
              <a:rPr sz="1600" b="0">
                <a:solidFill>
                  <a:srgbClr val="9BA1C4"/>
                </a:solidFill>
                <a:latin typeface="Segoe UI"/>
              </a:rPr>
              <a:t>Thank you · Questions</a:t>
            </a:r>
          </a:p>
        </p:txBody>
      </p:sp>
      <p:sp>
        <p:nvSpPr>
          <p:cNvPr id="12" name="TextBox 11"/>
          <p:cNvSpPr txBox="1"/>
          <p:nvPr/>
        </p:nvSpPr>
        <p:spPr>
          <a:xfrm>
            <a:off x="548640" y="6446520"/>
            <a:ext cx="9601200" cy="274320"/>
          </a:xfrm>
          <a:prstGeom prst="rect">
            <a:avLst/>
          </a:prstGeom>
          <a:noFill/>
        </p:spPr>
        <p:txBody>
          <a:bodyPr wrap="square" lIns="18288" rIns="18288" tIns="18288" bIns="18288" anchor="t">
            <a:spAutoFit/>
          </a:bodyPr>
          <a:lstStyle/>
          <a:p>
            <a:pPr algn="l">
              <a:lnSpc>
                <a:spcPct val="115000"/>
              </a:lnSpc>
            </a:pPr>
            <a:r>
              <a:rPr sz="900" b="0">
                <a:solidFill>
                  <a:srgbClr val="9BA1C4"/>
                </a:solidFill>
                <a:latin typeface="Segoe UI"/>
              </a:rPr>
              <a:t>Suggested 10-minute demo: Landing → Overview → Organization (Rapid labs) → Catalog (Modernisation) → Activity (signal network) → GitHub metrics.</a:t>
            </a:r>
          </a:p>
        </p:txBody>
      </p:sp>
      <p:sp>
        <p:nvSpPr>
          <p:cNvPr id="13" name="TextBox 12"/>
          <p:cNvSpPr txBox="1"/>
          <p:nvPr/>
        </p:nvSpPr>
        <p:spPr>
          <a:xfrm>
            <a:off x="9966960" y="6446520"/>
            <a:ext cx="1691640" cy="274320"/>
          </a:xfrm>
          <a:prstGeom prst="rect">
            <a:avLst/>
          </a:prstGeom>
          <a:noFill/>
        </p:spPr>
        <p:txBody>
          <a:bodyPr wrap="square" lIns="18288" rIns="18288" tIns="18288" bIns="18288" anchor="t">
            <a:spAutoFit/>
          </a:bodyPr>
          <a:lstStyle/>
          <a:p>
            <a:pPr algn="r">
              <a:lnSpc>
                <a:spcPct val="115000"/>
              </a:lnSpc>
            </a:pPr>
            <a:r>
              <a:rPr sz="900" b="0">
                <a:solidFill>
                  <a:srgbClr val="9BA1C4"/>
                </a:solidFill>
                <a:latin typeface="Segoe UI Semibold"/>
              </a:rPr>
              <a:t>AI Control Plane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